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57800"/>
            <a:ext cx="12191695" cy="635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embr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34440"/>
            <a:ext cx="4892040" cy="3057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05156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Segoe UI"/>
              </a:rPr>
              <a:t>VitaGen-AI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6035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2E9ED8"/>
                </a:solidFill>
                <a:latin typeface="Segoe UI"/>
              </a:rPr>
              <a:t>Мультимодальная платформа</a:t>
            </a:r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2E9ED8"/>
                </a:solidFill>
                <a:latin typeface="Segoe UI"/>
              </a:rPr>
              <a:t>прогнозирования репродуктивных</a:t>
            </a:r>
          </a:p>
          <a:p>
            <a:pPr algn="l">
              <a:lnSpc>
                <a:spcPct val="125000"/>
              </a:lnSpc>
            </a:pPr>
            <a:r>
              <a:rPr sz="2400" b="0">
                <a:solidFill>
                  <a:srgbClr val="2E9ED8"/>
                </a:solidFill>
                <a:latin typeface="Segoe UI"/>
              </a:rPr>
              <a:t>исходов ВРТ на основе 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6126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D6EAF7"/>
                </a:solidFill>
                <a:latin typeface="Segoe UI"/>
              </a:rPr>
              <a:t>Инвестиционное предложение · Seed 35 млн ₽ + Series A 45 млн ₽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D6EAF7"/>
                </a:solidFill>
                <a:latin typeface="Segoe UI"/>
              </a:rPr>
              <a:t>Федеральный рынок России · Международное направление: Хайнань (КНР) и АТР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6928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Петрушина М. В. · генеральный директор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ООО «МедТехПрима» · +7 985 728 66 55 · mar.petrushina@yandex.ru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4175" y="5806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0">
                <a:solidFill>
                  <a:srgbClr val="D6EAF7"/>
                </a:solidFill>
                <a:latin typeface="Segoe UI"/>
              </a:rPr>
              <a:t>Октябрь 2026</a:t>
            </a:r>
          </a:p>
          <a:p>
            <a:pPr algn="r">
              <a:lnSpc>
                <a:spcPct val="120000"/>
              </a:lnSpc>
            </a:pPr>
            <a:r>
              <a:rPr sz="1300" b="0">
                <a:solidFill>
                  <a:srgbClr val="D6EAF7"/>
                </a:solidFill>
                <a:latin typeface="Segoe UI"/>
              </a:rPr>
              <a:t>Стадия: прототип + валидация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Проблема: эффективность ВРТ ограничена качеством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Субъективная оценка эмбриолога, скрытые факторы мужского и иммунного риска, растущая нагрузка на ОМС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Коммерческая тайна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651760" cy="13716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63500" cy="13716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892808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≈120–130 тыс.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65176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циклов ВРТ в год в РФ (ФР ВРТ МЗ РФ)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783080"/>
            <a:ext cx="2651760" cy="13716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783080"/>
            <a:ext cx="63500" cy="13716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1892808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≈35–40%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65176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средняя реализация на перенос (МЗ РФ)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783080"/>
            <a:ext cx="2651760" cy="13716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783080"/>
            <a:ext cx="63500" cy="13716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892808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15–17%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65176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пар в мире сталкиваются с бесплодием (ВОЗ)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783080"/>
            <a:ext cx="2651760" cy="13716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783080"/>
            <a:ext cx="63500" cy="13716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1892808"/>
            <a:ext cx="2377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≈1,4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651760"/>
            <a:ext cx="2377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СКР в РФ — ниже уровня воспроизводства (Росстат)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91372" y="3525012"/>
            <a:ext cx="3054096" cy="1992738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3566160"/>
            <a:ext cx="2971800" cy="191044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732520" y="5586330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A6A7A"/>
                </a:solidFill>
                <a:latin typeface="Segoe UI"/>
              </a:rPr>
              <a:t>ICSI: прецизионная инъекция сперматозоида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474720"/>
            <a:ext cx="795527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 b="1">
                <a:solidFill>
                  <a:srgbClr val="145DA0"/>
                </a:solidFill>
                <a:latin typeface="Segoe UI"/>
              </a:rPr>
              <a:t>▪  Скрытые потери: </a:t>
            </a:r>
            <a:r>
              <a:rPr sz="1450">
                <a:solidFill>
                  <a:srgbClr val="1A2A3A"/>
                </a:solidFill>
                <a:latin typeface="Segoe UI"/>
              </a:rPr>
              <a:t>до 50% неудач переносов объясняются генетикой эмбриона, качеством эндометрия, иммунной несовместимостью и мужским фактором — они частично «невидимы».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 b="1">
                <a:solidFill>
                  <a:srgbClr val="145DA0"/>
                </a:solidFill>
                <a:latin typeface="Segoe UI"/>
              </a:rPr>
              <a:t>▪  Мужской фактор недооценён: </a:t>
            </a:r>
            <a:r>
              <a:rPr sz="1450">
                <a:solidFill>
                  <a:srgbClr val="1A2A3A"/>
                </a:solidFill>
                <a:latin typeface="Segoe UI"/>
              </a:rPr>
              <a:t>DFI/MAR-тест часто не включён в протокол решения о переносе — источник ранних потерь и неудачных циклов.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 b="1">
                <a:solidFill>
                  <a:srgbClr val="145DA0"/>
                </a:solidFill>
                <a:latin typeface="Segoe UI"/>
              </a:rPr>
              <a:t>▪  ОМС и бюджеты: </a:t>
            </a:r>
            <a:r>
              <a:rPr sz="1450">
                <a:solidFill>
                  <a:srgbClr val="1A2A3A"/>
                </a:solidFill>
                <a:latin typeface="Segoe UI"/>
              </a:rPr>
              <a:t>каждый повторный цикл — прямые затраты квот; регионам нужен инструмент управления CLBR и стоимостью живорождения.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50" b="1">
                <a:solidFill>
                  <a:srgbClr val="145DA0"/>
                </a:solidFill>
                <a:latin typeface="Segoe UI"/>
              </a:rPr>
              <a:t>▪  Регуляторный тренд: </a:t>
            </a:r>
            <a:r>
              <a:rPr sz="1450">
                <a:solidFill>
                  <a:srgbClr val="1A2A3A"/>
                </a:solidFill>
                <a:latin typeface="Segoe UI"/>
              </a:rPr>
              <a:t>Минздрав и ДЗМ инициируют режимы упрощённой валидации («песочница») для ИИ-МИ — окно для суверенных российских решений.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Решение: 5 уровней данных → единый прогноз имплантации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ИИ-модель объединяет эмбрионику, геномику, клинику и мужской фактор в воспроизводимый цифровой скор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Коммерческая тайна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121408" cy="22860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80160" y="1920240"/>
            <a:ext cx="548640" cy="548640"/>
          </a:xfrm>
          <a:prstGeom prst="ellipse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99339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606040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A2F4F"/>
                </a:solidFill>
                <a:latin typeface="Segoe UI"/>
              </a:rPr>
              <a:t>Морфокинетика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063240"/>
            <a:ext cx="190195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Таймлапс, 20 000+ кадров,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37 параметров развития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783080"/>
            <a:ext cx="2121408" cy="22860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66160" y="1920240"/>
            <a:ext cx="548640" cy="548640"/>
          </a:xfrm>
          <a:prstGeom prst="ellipse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99339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2606040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A2F4F"/>
                </a:solidFill>
                <a:latin typeface="Segoe UI"/>
              </a:rPr>
              <a:t>Геном эмбриона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3063240"/>
            <a:ext cx="190195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PGT-A, маркеры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имплантационного потенциала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1783080"/>
            <a:ext cx="2121408" cy="22860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0" y="1920240"/>
            <a:ext cx="548640" cy="548640"/>
          </a:xfrm>
          <a:prstGeom prst="ellipse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199339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8" y="2606040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A2F4F"/>
                </a:solidFill>
                <a:latin typeface="Segoe UI"/>
              </a:rPr>
              <a:t>Клиника пациентки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4648" y="3063240"/>
            <a:ext cx="190195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Возраст, АМГ, ИМТ, история ВРТ,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эндометрий, гормоны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1783080"/>
            <a:ext cx="2121408" cy="22860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38160" y="1920240"/>
            <a:ext cx="548640" cy="548640"/>
          </a:xfrm>
          <a:prstGeom prst="ellipse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199339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0648" y="2606040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A2F4F"/>
                </a:solidFill>
                <a:latin typeface="Segoe UI"/>
              </a:rPr>
              <a:t>Геном пациентки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063240"/>
            <a:ext cx="190195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PRS репродуктивного здоровья,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KIR/HLA-C, иммунный риск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1783080"/>
            <a:ext cx="2121408" cy="22860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24160" y="1920240"/>
            <a:ext cx="548640" cy="548640"/>
          </a:xfrm>
          <a:prstGeom prst="ellipse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24160" y="1993392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56648" y="2606040"/>
            <a:ext cx="19019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A2F4F"/>
                </a:solidFill>
                <a:latin typeface="Segoe UI"/>
              </a:rPr>
              <a:t>Мужской фактор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6648" y="3063240"/>
            <a:ext cx="190195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DFI, MAR-тест, спермограмма,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ИКСИ/ПИКСИ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343400"/>
            <a:ext cx="11201400" cy="173736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5262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Прогноз имплантационного потенциала 0–100 + рекомендация селективного переноса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Архитектура с masking: работает при неполных данных (донорские циклы, ограниченный генотип)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Предварительная внутренняя валидация: AUC = 0,89 (требуется проспективное исследование)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Продукт: платформа на весь путь пациента в ВРТ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Ядро + модульная линейка: от стимуляции до перинатальных прогнозов и матчинга донорства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Коммерческая тайна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2697480" cy="141732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2697480" cy="6350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2423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5DA0"/>
                </a:solidFill>
                <a:latin typeface="Segoe UI"/>
              </a:rPr>
              <a:t>Ядро 2026–27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Прогноз имплантации,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селективный перенос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737360"/>
            <a:ext cx="2697480" cy="141732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737360"/>
            <a:ext cx="2697480" cy="635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874520"/>
            <a:ext cx="2423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E9ED8"/>
                </a:solidFill>
                <a:latin typeface="Segoe UI"/>
              </a:rPr>
              <a:t>niPGT-A 2028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6888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Неинвазивный прогноз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плоидности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37360"/>
            <a:ext cx="2697480" cy="141732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737360"/>
            <a:ext cx="2697480" cy="635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74520"/>
            <a:ext cx="2423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E9ED8"/>
                </a:solidFill>
                <a:latin typeface="Segoe UI"/>
              </a:rPr>
              <a:t>СГЯ 2028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6888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Ответ яичников,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безопасная доза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737360"/>
            <a:ext cx="2697480" cy="141732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737360"/>
            <a:ext cx="2697480" cy="635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874520"/>
            <a:ext cx="2423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E9ED8"/>
                </a:solidFill>
                <a:latin typeface="Segoe UI"/>
              </a:rPr>
              <a:t>Эндометрий 2028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46888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Рецептивность,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оптимизация дня переноса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37560"/>
            <a:ext cx="2697480" cy="141732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337560"/>
            <a:ext cx="2697480" cy="6350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474720"/>
            <a:ext cx="2423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5DA0"/>
                </a:solidFill>
                <a:latin typeface="Segoe UI"/>
              </a:rPr>
              <a:t>CLBR / CPLB 2028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6908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B2G: эффективность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клиники и региона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3337560"/>
            <a:ext cx="2697480" cy="141732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83280" y="3337560"/>
            <a:ext cx="2697480" cy="6350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3474720"/>
            <a:ext cx="2423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45DA0"/>
                </a:solidFill>
                <a:latin typeface="Segoe UI"/>
              </a:rPr>
              <a:t>Матчинг СМ 2029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406908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KIR/HLA-C: доноры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и суррогатные матери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337560"/>
            <a:ext cx="2697480" cy="141732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3337560"/>
            <a:ext cx="2697480" cy="6350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474720"/>
            <a:ext cx="2423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F4F"/>
                </a:solidFill>
                <a:latin typeface="Segoe UI"/>
              </a:rPr>
              <a:t>Семейный геном</a:t>
            </a:r>
          </a:p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F4F"/>
                </a:solidFill>
                <a:latin typeface="Segoe UI"/>
              </a:rPr>
              <a:t>2029–30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06908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Pre-PGT-M/SR, AZF,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PRS отца, эпигенетика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337560"/>
            <a:ext cx="2697480" cy="141732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3337560"/>
            <a:ext cx="2697480" cy="6350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3474720"/>
            <a:ext cx="2423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F4F"/>
                </a:solidFill>
                <a:latin typeface="Segoe UI"/>
              </a:rPr>
              <a:t>Перинатальный</a:t>
            </a:r>
          </a:p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F4F"/>
                </a:solidFill>
                <a:latin typeface="Segoe UI"/>
              </a:rPr>
              <a:t>2030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4069080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Риски ранних потерь,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прэклампсия, ЗРП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A3A"/>
                </a:solidFill>
                <a:latin typeface="Segoe UI"/>
              </a:rPr>
              <a:t>Клинические сценарии: донорские ооциты + сперма отца · ооциты матери + донорская сперма ·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A2A3A"/>
                </a:solidFill>
                <a:latin typeface="Segoe UI"/>
              </a:rPr>
              <a:t>суррогатное материнство (patient_id_gestational, иммунный консилиум «СМ vs отец»).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A7A"/>
                </a:solidFill>
                <a:latin typeface="Segoe UI"/>
              </a:rPr>
              <a:t>Этические границы: PGT-P по немедицинским признакам не применяется.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Рынок: Россия — федеральный запуск, АТР — масштаб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Оценки с атрибуцией: ФР ВРТ МЗ РФ, Росстат, ВОЗ; часть величин — экспертные оценки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Коммерческая тайна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5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566160" cy="214884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3566160" cy="45720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4708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TAM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A2F4F"/>
                </a:solidFill>
                <a:latin typeface="Segoe UI"/>
              </a:rPr>
              <a:t>25–30 млрд ₽/год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A6A7A"/>
                </a:solidFill>
                <a:latin typeface="Segoe UI"/>
              </a:rPr>
              <a:t>клинический рынок ВРТ РФ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5A6A7A"/>
                </a:solidFill>
                <a:latin typeface="Segoe UI"/>
              </a:rPr>
              <a:t>(~125 тыс. циклов × ~200 тыс. ₽)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783080"/>
            <a:ext cx="3566160" cy="214884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783080"/>
            <a:ext cx="3566160" cy="45720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4708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37744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45DA0"/>
                </a:solidFill>
                <a:latin typeface="Segoe UI"/>
              </a:rPr>
              <a:t>2–3 млрд ₽/год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9718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A6A7A"/>
                </a:solidFill>
                <a:latin typeface="Segoe UI"/>
              </a:rPr>
              <a:t>софт и аналитика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5A6A7A"/>
                </a:solidFill>
                <a:latin typeface="Segoe UI"/>
              </a:rPr>
              <a:t>для клиник ВРТ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1783080"/>
            <a:ext cx="3566160" cy="214884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1783080"/>
            <a:ext cx="3566160" cy="4572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84708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SOM 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37744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E9ED8"/>
                </a:solidFill>
                <a:latin typeface="Segoe UI"/>
              </a:rPr>
              <a:t>391 млн ₽/год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9718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A6A7A"/>
                </a:solidFill>
                <a:latin typeface="Segoe UI"/>
              </a:rPr>
              <a:t>85 клиник, 5 регионов B2G,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5A6A7A"/>
                </a:solidFill>
                <a:latin typeface="Segoe UI"/>
              </a:rPr>
              <a:t>ранний вход в Китай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20624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145DA0"/>
                </a:solidFill>
                <a:latin typeface="Segoe UI"/>
              </a:rPr>
              <a:t>▪  Китай: </a:t>
            </a:r>
            <a:r>
              <a:rPr sz="1400">
                <a:solidFill>
                  <a:srgbClr val="1A2A3A"/>
                </a:solidFill>
                <a:latin typeface="Segoe UI"/>
              </a:rPr>
              <a:t>~700–800 тыс. циклов/год, клиника ~$15–20 млрд, рост ~10–15%/год (отраслевые оценки).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145DA0"/>
                </a:solidFill>
                <a:latin typeface="Segoe UI"/>
              </a:rPr>
              <a:t>▪  Вход через Хайнань: </a:t>
            </a:r>
            <a:r>
              <a:rPr sz="1400">
                <a:solidFill>
                  <a:srgbClr val="1A2A3A"/>
                </a:solidFill>
                <a:latin typeface="Segoe UI"/>
              </a:rPr>
              <a:t>WFOE в ЗСТ, льготный КН 15%, пилот Боао Лэчэн, NMPA II класс 12–18 мес.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145DA0"/>
                </a:solidFill>
                <a:latin typeface="Segoe UI"/>
              </a:rPr>
              <a:t>▪  Данные (PIPL): </a:t>
            </a:r>
            <a:r>
              <a:rPr sz="1400">
                <a:solidFill>
                  <a:srgbClr val="1A2A3A"/>
                </a:solidFill>
                <a:latin typeface="Segoe UI"/>
              </a:rPr>
              <a:t>геномные данные не покидают КНР — локальный деплой.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206240"/>
            <a:ext cx="5394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145DA0"/>
                </a:solidFill>
                <a:latin typeface="Segoe UI"/>
              </a:rPr>
              <a:t>▪  Драйвер РФ: </a:t>
            </a:r>
            <a:r>
              <a:rPr sz="1400">
                <a:solidFill>
                  <a:srgbClr val="1A2A3A"/>
                </a:solidFill>
                <a:latin typeface="Segoe UI"/>
              </a:rPr>
              <a:t>приказ Минздрава об ИИ в ВРТ → проникновение как у таймлапса.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145DA0"/>
                </a:solidFill>
                <a:latin typeface="Segoe UI"/>
              </a:rPr>
              <a:t>▪  B2G: </a:t>
            </a:r>
            <a:r>
              <a:rPr sz="1400">
                <a:solidFill>
                  <a:srgbClr val="1A2A3A"/>
                </a:solidFill>
                <a:latin typeface="Segoe UI"/>
              </a:rPr>
              <a:t>ДЗМ Москвы — пилотный регион; CLBR и стоимость живорождения.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145DA0"/>
                </a:solidFill>
                <a:latin typeface="Segoe UI"/>
              </a:rPr>
              <a:t>▪  APAC-пайплайн: </a:t>
            </a:r>
            <a:r>
              <a:rPr sz="1400">
                <a:solidFill>
                  <a:srgbClr val="1A2A3A"/>
                </a:solidFill>
                <a:latin typeface="Segoe UI"/>
              </a:rPr>
              <a:t>Индия, Япония, Корея, Сингапур, Индонезия.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Бизнес-модель: B2B + B2G + APAC, asset-light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5 источников выручки · горизонт LTV клиники 5 лет · LTV/CAC &gt;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Коммерческая тайна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6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121408" cy="265176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2121408" cy="50292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56231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Подписка клиники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19385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A2F4F"/>
                </a:solidFill>
                <a:latin typeface="Segoe UI"/>
              </a:rPr>
              <a:t>2,2–2,8 млн ₽/год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46120"/>
            <a:ext cx="1938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SaaS + базовая аналитика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(включены обновления)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783080"/>
            <a:ext cx="2121408" cy="265176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88920" y="1783080"/>
            <a:ext cx="2121408" cy="50292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1856231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Модули (ARPU)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468880"/>
            <a:ext cx="19385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A2F4F"/>
                </a:solidFill>
                <a:latin typeface="Segoe UI"/>
              </a:rPr>
              <a:t>0,15–1,0 млн ₽/год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246120"/>
            <a:ext cx="1938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niPGT-A, эндометрий,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мужской геном и др.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1783080"/>
            <a:ext cx="2121408" cy="265176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1783080"/>
            <a:ext cx="2121408" cy="50292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1856231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Матчинг СМ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468880"/>
            <a:ext cx="19385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A2F4F"/>
                </a:solidFill>
                <a:latin typeface="Segoe UI"/>
              </a:rPr>
              <a:t>0,18 млн ₽ / случай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246120"/>
            <a:ext cx="1938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донорство и суррогатия —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высокий чек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1783080"/>
            <a:ext cx="2121408" cy="265176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0920" y="1783080"/>
            <a:ext cx="2121408" cy="50292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1856231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B2G-аналитика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468880"/>
            <a:ext cx="19385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A2F4F"/>
                </a:solidFill>
                <a:latin typeface="Segoe UI"/>
              </a:rPr>
              <a:t>4–6 млн ₽/год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246120"/>
            <a:ext cx="1938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CLBR / Cost per Live Birth,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регион и клиника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46920" y="1783080"/>
            <a:ext cx="2121408" cy="265176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46920" y="1783080"/>
            <a:ext cx="2121408" cy="50292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38360" y="1856231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</a:rPr>
              <a:t>APAC-лицензия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468880"/>
            <a:ext cx="19385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A2F4F"/>
                </a:solidFill>
                <a:latin typeface="Segoe UI"/>
              </a:rPr>
              <a:t>8–8,5 млн ₽/год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3246120"/>
            <a:ext cx="193852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партнёр Хайнань/АТР,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A6A7A"/>
                </a:solidFill>
                <a:latin typeface="Segoe UI"/>
              </a:rPr>
              <a:t>rev-share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8572" y="4439412"/>
            <a:ext cx="2368296" cy="1796796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di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4480560"/>
            <a:ext cx="2286000" cy="1714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89720" y="6268212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A6A7A"/>
                </a:solidFill>
                <a:latin typeface="Segoe UI"/>
              </a:rPr>
              <a:t>Данные развития эмбриона для ИИ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70916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145DA0"/>
                </a:solidFill>
                <a:latin typeface="Segoe UI"/>
              </a:rPr>
              <a:t>▪  Юнит-экономика: </a:t>
            </a:r>
            <a:r>
              <a:rPr sz="1350">
                <a:solidFill>
                  <a:srgbClr val="1A2A3A"/>
                </a:solidFill>
                <a:latin typeface="Segoe UI"/>
              </a:rPr>
              <a:t>LTV ~12–15 млн ₽ на клинику (5 лет), CAC 0,8–1,2 млн ₽; цикл сделки 6–9 мес.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145DA0"/>
                </a:solidFill>
                <a:latin typeface="Segoe UI"/>
              </a:rPr>
              <a:t>▪  Воронка: </a:t>
            </a:r>
            <a:r>
              <a:rPr sz="1350">
                <a:solidFill>
                  <a:srgbClr val="1A2A3A"/>
                </a:solidFill>
                <a:latin typeface="Segoe UI"/>
              </a:rPr>
              <a:t>научный контент → пилот на данных клиники (1–3 мес.) → сравнение прогноза с фактом → договор.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145DA0"/>
                </a:solidFill>
                <a:latin typeface="Segoe UI"/>
              </a:rPr>
              <a:t>▪  Lock-in: </a:t>
            </a:r>
            <a:r>
              <a:rPr sz="1350">
                <a:solidFill>
                  <a:srgbClr val="1A2A3A"/>
                </a:solidFill>
                <a:latin typeface="Segoe UI"/>
              </a:rPr>
              <a:t>глубокая интеграция с МИС и накопление исторических данных клиники повышают стоимость переключения.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Статус проекта: прототип, ИС, команда, пилот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Ключевые вехи достигнуты; следующий шаг — проспективная валидация и регистрация ИИ-МИ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Коммерческая тайна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7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743200" cy="13716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63500" cy="13716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892808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AUC 0,89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65176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предварительная внутренняя валидация (требуется проспективное исследование)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783080"/>
            <a:ext cx="2743200" cy="13716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783080"/>
            <a:ext cx="63500" cy="13716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1892808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6 РИД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2" y="265176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свидетельство №1440-028-537 (30.03.2026), ПОЭВМ, заявки, know-how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783080"/>
            <a:ext cx="2743200" cy="13716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783080"/>
            <a:ext cx="63500" cy="13716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1892808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45 млн 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65176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оценка ИС для вклада в УК АО (отчёт оценщика)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1783080"/>
            <a:ext cx="2377440" cy="13716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81160" y="1783080"/>
            <a:ext cx="63500" cy="13716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45752" y="189280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8–10 тыс.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265176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циклов в пилоте: РНИМУ Пирогова + 5–7 клиник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474720"/>
            <a:ext cx="11155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45DA0"/>
                </a:solidFill>
                <a:latin typeface="Segoe UI"/>
              </a:rPr>
              <a:t>▪  Регуляторика: </a:t>
            </a:r>
            <a:r>
              <a:rPr sz="1600">
                <a:solidFill>
                  <a:srgbClr val="1A2A3A"/>
                </a:solidFill>
                <a:latin typeface="Segoe UI"/>
              </a:rPr>
              <a:t>подготовка к регистрации ПО как медизделия; рассмотрение режима «песочницы» ДЗМ/Минздрава для ИИ-МИ.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45DA0"/>
                </a:solidFill>
                <a:latin typeface="Segoe UI"/>
              </a:rPr>
              <a:t>▪  Инфраструктура: </a:t>
            </a:r>
            <a:r>
              <a:rPr sz="1600">
                <a:solidFill>
                  <a:srgbClr val="1A2A3A"/>
                </a:solidFill>
                <a:latin typeface="Segoe UI"/>
              </a:rPr>
              <a:t>доступ к циклам через РНИМУ им. Н. И. Пирогова; российское облако с требованиями 152-ФЗ.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45DA0"/>
                </a:solidFill>
                <a:latin typeface="Segoe UI"/>
              </a:rPr>
              <a:t>▪  Обезличивание: </a:t>
            </a:r>
            <a:r>
              <a:rPr sz="1600">
                <a:solidFill>
                  <a:srgbClr val="1A2A3A"/>
                </a:solidFill>
                <a:latin typeface="Segoe UI"/>
              </a:rPr>
              <a:t>PIPL-совместимая архитектура для будущего Китая; masking при неполных данных.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45DA0"/>
                </a:solidFill>
                <a:latin typeface="Segoe UI"/>
              </a:rPr>
              <a:t>▪  Роадмап: </a:t>
            </a:r>
            <a:r>
              <a:rPr sz="1600">
                <a:solidFill>
                  <a:srgbClr val="1A2A3A"/>
                </a:solidFill>
                <a:latin typeface="Segoe UI"/>
              </a:rPr>
              <a:t>2026–27 пилот и регистрация → 2028 модули и масштабирование на Москву → 2029 регионы и матчинг СМ → 2030 федеральный масштаб + Хайнань.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45DA0"/>
                </a:solidFill>
                <a:latin typeface="Segoe UI"/>
              </a:rPr>
              <a:t>▪  Доказательная база: </a:t>
            </a:r>
            <a:r>
              <a:rPr sz="1600">
                <a:solidFill>
                  <a:srgbClr val="1A2A3A"/>
                </a:solidFill>
                <a:latin typeface="Segoe UI"/>
              </a:rPr>
              <a:t>публикация результатов пилота в российских и международных изданиях — инструмент продаж и научной репутации.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Конкурентное окружение и УТП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Коммерческие решения в РФ — в основном морфокинетика; глобальные лидеры — односекционные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Коммерческая тайна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8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37360"/>
          <a:ext cx="1120139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6584"/>
                <a:gridCol w="1400175"/>
                <a:gridCol w="2800350"/>
                <a:gridCol w="3554290"/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Решение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Страна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Фокус данных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Ограничение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Ivy Fertility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США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Изображение + клиника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Без мужского фактора / DFI, без РФ-адаптации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Life Whisperer / CooperSurgical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США/Австр.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Морфология эмбриона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Однофокусность на «картинке»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Vitrolife Geri +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Швеция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Таймлапс +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Аппаратная привязка, нет геномики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Fairtility CHLOE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Израиль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Таймлапс + AI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Нет геномных и иммунных данных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ERICA / iDAScore (исследования)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ЕС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Морфология → плоидность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Точность 70–81% без мультимодальности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VitaGen-AI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РФ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5 модальностей вкл. DFI и KIR/HLA-C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1A2A3A"/>
                          </a:solidFill>
                          <a:latin typeface="Segoe UI"/>
                        </a:rPr>
                        <a:t>Стадия валидации — закрывается пилотом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434840"/>
            <a:ext cx="111556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45DA0"/>
                </a:solidFill>
                <a:latin typeface="Segoe UI"/>
              </a:rPr>
              <a:t>▪  УТП: </a:t>
            </a:r>
            <a:r>
              <a:rPr sz="1600">
                <a:solidFill>
                  <a:srgbClr val="1A2A3A"/>
                </a:solidFill>
                <a:latin typeface="Segoe UI"/>
              </a:rPr>
              <a:t>единственная в РФ мультимодальная платформа (5 модальностей); интеграция DFI и иммунного матчинга KIR/HLA-C — по обзорным публикациям 2024–2025 гг. у коммерческих мировых аналогов не выявлена.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45DA0"/>
                </a:solidFill>
                <a:latin typeface="Segoe UI"/>
              </a:rPr>
              <a:t>▪  Точность: </a:t>
            </a:r>
            <a:r>
              <a:rPr sz="1600">
                <a:solidFill>
                  <a:srgbClr val="1A2A3A"/>
                </a:solidFill>
                <a:latin typeface="Segoe UI"/>
              </a:rPr>
              <a:t>рост AUC у мультимодальных моделей по обзорам — до +20–35% к однофакторным; наши предварительные 0,89 vs 0,65–0,72 у традиционных методов.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145DA0"/>
                </a:solidFill>
                <a:latin typeface="Segoe UI"/>
              </a:rPr>
              <a:t>▪  Суверенитет: </a:t>
            </a:r>
            <a:r>
              <a:rPr sz="1600">
                <a:solidFill>
                  <a:srgbClr val="1A2A3A"/>
                </a:solidFill>
                <a:latin typeface="Segoe UI"/>
              </a:rPr>
              <a:t>100% российская разработка, данные в РФ-облаке, замещение импортных решений в госсекторе.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Команда: клиника, наука, регуляторика, ИИ, международный рынок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Инициативная группа + план найма по раундам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Коммерческая тайна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9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2697480" cy="146304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63500" cy="146304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1847088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F4F"/>
                </a:solidFill>
                <a:latin typeface="Segoe UI"/>
              </a:rPr>
              <a:t>Петрушина М. 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17627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5DA0"/>
                </a:solidFill>
                <a:latin typeface="Segoe UI"/>
              </a:rPr>
              <a:t>Генеральный директор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487168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6A7A"/>
                </a:solidFill>
                <a:latin typeface="Segoe UI"/>
              </a:rPr>
              <a:t>Инициатор проекта, правообладатель РИД,</a:t>
            </a:r>
          </a:p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6A7A"/>
                </a:solidFill>
                <a:latin typeface="Segoe UI"/>
              </a:rPr>
              <a:t>ООО «МедТехПрима»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737360"/>
            <a:ext cx="2697480" cy="146304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1737360"/>
            <a:ext cx="63500" cy="146304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847088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F4F"/>
                </a:solidFill>
                <a:latin typeface="Segoe UI"/>
              </a:rPr>
              <a:t>Изотов О. И., к.м.н.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217627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5DA0"/>
                </a:solidFill>
                <a:latin typeface="Segoe UI"/>
              </a:rPr>
              <a:t>Научный консультант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487168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6A7A"/>
                </a:solidFill>
                <a:latin typeface="Segoe UI"/>
              </a:rPr>
              <a:t>Российский университет медицины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737360"/>
            <a:ext cx="2697480" cy="146304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737360"/>
            <a:ext cx="63500" cy="146304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1847088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F4F"/>
                </a:solidFill>
                <a:latin typeface="Segoe UI"/>
              </a:rPr>
              <a:t>Смирнов С. Н., к.э.н.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17627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5DA0"/>
                </a:solidFill>
                <a:latin typeface="Segoe UI"/>
              </a:rPr>
              <a:t>Экономика проекта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487168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6A7A"/>
                </a:solidFill>
                <a:latin typeface="Segoe UI"/>
              </a:rPr>
              <a:t>Финансовый университет при Правительстве РФ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737360"/>
            <a:ext cx="2697480" cy="146304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737360"/>
            <a:ext cx="63500" cy="146304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8592" y="1847088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F4F"/>
                </a:solidFill>
                <a:latin typeface="Segoe UI"/>
              </a:rPr>
              <a:t>Танделов А. Т.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217627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5DA0"/>
                </a:solidFill>
                <a:latin typeface="Segoe UI"/>
              </a:rPr>
              <a:t>Регуляторика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2487168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6A7A"/>
                </a:solidFill>
                <a:latin typeface="Segoe UI"/>
              </a:rPr>
              <a:t>ГК «Глобальные Медицинские технологии»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383280"/>
            <a:ext cx="2697480" cy="146304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383280"/>
            <a:ext cx="63500" cy="146304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3493008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F4F"/>
                </a:solidFill>
                <a:latin typeface="Segoe UI"/>
              </a:rPr>
              <a:t>Воронцов А. И.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38221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5DA0"/>
                </a:solidFill>
                <a:latin typeface="Segoe UI"/>
              </a:rPr>
              <a:t>Партнёрства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" y="4133088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6A7A"/>
                </a:solidFill>
                <a:latin typeface="Segoe UI"/>
              </a:rPr>
              <a:t>ГК «Рич Кемикл», Академия Инноваторов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3383280"/>
            <a:ext cx="2697480" cy="146304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83280" y="3383280"/>
            <a:ext cx="63500" cy="146304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47872" y="3493008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F4F"/>
                </a:solidFill>
                <a:latin typeface="Segoe UI"/>
              </a:rPr>
              <a:t>Мороз А. Е.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47872" y="38221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5DA0"/>
                </a:solidFill>
                <a:latin typeface="Segoe UI"/>
              </a:rPr>
              <a:t>Развитие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47872" y="4133088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6A7A"/>
                </a:solidFill>
                <a:latin typeface="Segoe UI"/>
              </a:rPr>
              <a:t>Академия Инноваторов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3383280"/>
            <a:ext cx="2697480" cy="146304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3383280"/>
            <a:ext cx="63500" cy="146304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3493008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F4F"/>
                </a:solidFill>
                <a:latin typeface="Segoe UI"/>
              </a:rPr>
              <a:t>N. Luo (КНР)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8232" y="38221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5DA0"/>
                </a:solidFill>
                <a:latin typeface="Segoe UI"/>
              </a:rPr>
              <a:t>Международный маркетинг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8232" y="4133088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6A7A"/>
                </a:solidFill>
                <a:latin typeface="Segoe UI"/>
              </a:rPr>
              <a:t>АТР-направление, Хайнань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383280"/>
            <a:ext cx="2697480" cy="146304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44000" y="3383280"/>
            <a:ext cx="63500" cy="146304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08592" y="3493008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2F4F"/>
                </a:solidFill>
                <a:latin typeface="Segoe UI"/>
              </a:rPr>
              <a:t>Z. Abbas (Гонконг)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08592" y="382219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45DA0"/>
                </a:solidFill>
                <a:latin typeface="Segoe UI"/>
              </a:rPr>
              <a:t>Big Data / ML /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08592" y="4133088"/>
            <a:ext cx="24231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6A7A"/>
                </a:solidFill>
                <a:latin typeface="Segoe UI"/>
              </a:rPr>
              <a:t>IT-консалтинг платформы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166360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2A3A"/>
                </a:solidFill>
                <a:latin typeface="Segoe UI"/>
              </a:rPr>
              <a:t>Научная база пилота: РНИМУ им. Н. И. Пирогова и клиники-партнёры.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2A3A"/>
                </a:solidFill>
                <a:latin typeface="Segoe UI"/>
              </a:rPr>
              <a:t>Найм по Раунду 1: ML-инженеры (2–3), интеграционный разработчик, эмбриолог-аналитик,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2A3A"/>
                </a:solidFill>
                <a:latin typeface="Segoe UI"/>
              </a:rPr>
              <a:t>менеджер клинических исследований, регуляторный специалист; с 2027 — B2B-менеджер.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Финансы: безубыточность 2028, выручка 391 млн ₽ к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Базовый сценарий; переключатель в модели: пессимистичный / базовый / оптимистичный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Коммерческая тайна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10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37360"/>
          <a:ext cx="11201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3900"/>
                <a:gridCol w="1333500"/>
                <a:gridCol w="1333500"/>
                <a:gridCol w="1333500"/>
                <a:gridCol w="1333500"/>
                <a:gridCol w="1333500"/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Показатель, млн ₽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2026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2027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2028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2029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2030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Выручка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7,1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37,7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113,7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220,1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391,1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Операционные расходы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46,5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70,5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106,5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167,0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245,0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−39,4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−32,8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+7,2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+53,1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+146,1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Чистая прибыль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−39,5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−32,8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+6,8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+50,4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+138,8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Остаток денежных средств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0,5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20,8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34,0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91,1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>
                          <a:solidFill>
                            <a:srgbClr val="1A2A3A"/>
                          </a:solidFill>
                          <a:latin typeface="Segoe UI"/>
                        </a:rPr>
                        <a:t>239,2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617720"/>
            <a:ext cx="2743200" cy="13716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617720"/>
            <a:ext cx="63500" cy="13716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4727448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2028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548640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EBITDA-безубыточность и кассовый выход в плюс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4617720"/>
            <a:ext cx="2743200" cy="13716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4617720"/>
            <a:ext cx="63500" cy="13716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4727448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37%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548640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маржа EBITDA в 2030 г.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4617720"/>
            <a:ext cx="2743200" cy="13716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4617720"/>
            <a:ext cx="63500" cy="13716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4727448"/>
            <a:ext cx="2468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×0,75 / ×1,3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5486400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песс. / опт. сценарии по выручке (расходы ×1,12 / ×0,95)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4617720"/>
            <a:ext cx="2377440" cy="13716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60" y="4617720"/>
            <a:ext cx="63500" cy="13716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45752" y="472744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5DA0"/>
                </a:solidFill>
                <a:latin typeface="Segoe UI"/>
              </a:rPr>
              <a:t>УСН 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5752" y="548640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A6A7A"/>
                </a:solidFill>
                <a:latin typeface="Segoe UI"/>
              </a:rPr>
              <a:t>налог в модели (консервативно, без Сколково)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Финансы в динамике: рост выручки и выход в плюс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Базовый сценарий финансовой модели — те же данные, что в таблице P&amp;L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Коммерческая тайна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11 / 15</a:t>
            </a:r>
          </a:p>
        </p:txBody>
      </p:sp>
      <p:pic>
        <p:nvPicPr>
          <p:cNvPr id="9" name="Picture 8" descr="chart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5577840" cy="2822521"/>
          </a:xfrm>
          <a:prstGeom prst="rect">
            <a:avLst/>
          </a:prstGeom>
        </p:spPr>
      </p:pic>
      <p:pic>
        <p:nvPicPr>
          <p:cNvPr id="10" name="Picture 9" descr="chart_ebit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3080"/>
            <a:ext cx="5577840" cy="282252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4983480"/>
            <a:ext cx="11338560" cy="132588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983480"/>
            <a:ext cx="63500" cy="132588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12064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145DA0"/>
                </a:solidFill>
                <a:latin typeface="Segoe UI"/>
              </a:rPr>
              <a:t>▪  Рост выручки ≈2,3×/год при CAGR ~154% (2026–2030): </a:t>
            </a:r>
            <a:r>
              <a:rPr sz="1300">
                <a:solidFill>
                  <a:srgbClr val="1A2A3A"/>
                </a:solidFill>
                <a:latin typeface="Segoe UI"/>
              </a:rPr>
              <a:t>SaaS-подписки + модули + матчи + B2G + APAC.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145DA0"/>
                </a:solidFill>
                <a:latin typeface="Segoe UI"/>
              </a:rPr>
              <a:t>▪  Пик кассовой потребности — 2026–2027: </a:t>
            </a:r>
            <a:r>
              <a:rPr sz="1300">
                <a:solidFill>
                  <a:srgbClr val="1A2A3A"/>
                </a:solidFill>
                <a:latin typeface="Segoe UI"/>
              </a:rPr>
              <a:t>покрывается раундами Seed 35 млн ₽ и Series A 45 млн ₽ с грантовой обочкой; EBITDA-безубыточность — 2028.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Рост клиентской базы и рыночный контекст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Проникновение в РФ и ранний выход в Китай/АТР по модели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Коммерческая тайна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12 / 15</a:t>
            </a:r>
          </a:p>
        </p:txBody>
      </p:sp>
      <p:pic>
        <p:nvPicPr>
          <p:cNvPr id="9" name="Picture 8" descr="chart_cl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5577840" cy="2753617"/>
          </a:xfrm>
          <a:prstGeom prst="rect">
            <a:avLst/>
          </a:prstGeom>
        </p:spPr>
      </p:pic>
      <p:pic>
        <p:nvPicPr>
          <p:cNvPr id="10" name="Picture 9" descr="chart_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3080"/>
            <a:ext cx="5577840" cy="29799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5029200"/>
            <a:ext cx="11338560" cy="128016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029200"/>
            <a:ext cx="63500" cy="128016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16636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145DA0"/>
                </a:solidFill>
                <a:latin typeface="Segoe UI"/>
              </a:rPr>
              <a:t>▪  85 клиник в РФ к 2030 — ≈13–17% SAM: </a:t>
            </a:r>
            <a:r>
              <a:rPr sz="1300">
                <a:solidFill>
                  <a:srgbClr val="1A2A3A"/>
                </a:solidFill>
                <a:latin typeface="Segoe UI"/>
              </a:rPr>
              <a:t>путь через якорный пилот с РНИМУ → Москва → ключевые регионы (ЦФО, СЗФО, ПФО).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>
                <a:solidFill>
                  <a:srgbClr val="145DA0"/>
                </a:solidFill>
                <a:latin typeface="Segoe UI"/>
              </a:rPr>
              <a:t>▪  APAC после запуска WFOE в Хайнане: </a:t>
            </a:r>
            <a:r>
              <a:rPr sz="1300">
                <a:solidFill>
                  <a:srgbClr val="1A2A3A"/>
                </a:solidFill>
                <a:latin typeface="Segoe UI"/>
              </a:rPr>
              <a:t>~8 млн ₽ (2029) → ~25,5 млн ₽ (2030) при 3 партнёрах; воронка на 2031 — 4–6 партнёров (~35 млн ₽).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Инвестиции: 70 млн ₽ за два раунда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Непубличное АО «ВИТА ГЕН АИ» · привилегированные акции · акционерное соглашение · опционный пул 12%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Коммерческая тайна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13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5486400" cy="22860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5486400" cy="45720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0136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Раунд 1 · Seed ·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A3A"/>
                </a:solidFill>
                <a:latin typeface="Segoe UI"/>
              </a:rPr>
              <a:t>▪  35 млн ₽ · pre-money 110 млн ₽ (вкл. ИС 45 млн ₽)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A3A"/>
                </a:solidFill>
                <a:latin typeface="Segoe UI"/>
              </a:rPr>
              <a:t>▪  Доля инвестора: 24,1% (после Series A — 20,8%)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A3A"/>
                </a:solidFill>
                <a:latin typeface="Segoe UI"/>
              </a:rPr>
              <a:t>▪  Направления: ядро и интеграции 12 · валидация 7 · регуляторика 5 · команда 7 · ИС/юриспруденция 2,5 · резерв 1,5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486400" cy="22860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737360"/>
            <a:ext cx="5486400" cy="45720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Раунд 2 · Series A ·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31720"/>
            <a:ext cx="51206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A3A"/>
                </a:solidFill>
                <a:latin typeface="Segoe UI"/>
              </a:rPr>
              <a:t>▪  45 млн ₽ · pre-money 280 млн ₽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A3A"/>
                </a:solidFill>
                <a:latin typeface="Segoe UI"/>
              </a:rPr>
              <a:t>▪  Доля инвестора: 13,8%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1A2A3A"/>
                </a:solidFill>
                <a:latin typeface="Segoe UI"/>
              </a:rPr>
              <a:t>▪  Направления: модули 2028, коммерческий запуск Москва, регионы, WFOE Хайнань и подготовка NMPA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4160520"/>
          <a:ext cx="70408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011680"/>
                <a:gridCol w="2011680"/>
              </a:tblGrid>
              <a:tr h="35661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Показатель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Seed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Series A</a:t>
                      </a:r>
                    </a:p>
                  </a:txBody>
                  <a:tcPr>
                    <a:solidFill>
                      <a:srgbClr val="145DA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Сумма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35 млн 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45 млн 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MOIC при выходе 2031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8,0×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4,2×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IRR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≈52%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≈43%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NPV @ 25% (Seed)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45,6 млн ₽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>
                          <a:solidFill>
                            <a:srgbClr val="1A2A3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>
                    <a:solidFill>
                      <a:srgbClr val="F2F8FC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7772400" y="4160520"/>
            <a:ext cx="3931920" cy="178308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4279392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9ED8"/>
                </a:solidFill>
                <a:latin typeface="Segoe UI"/>
              </a:rPr>
              <a:t>Выход (2031)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645152"/>
            <a:ext cx="3566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Segoe UI"/>
              </a:rPr>
              <a:t>EBITDA 180 млн ₽ × 7,5 = 1 350 млн ₽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Segoe UI"/>
              </a:rPr>
              <a:t>Стратеги: IT/medtech-холдинги, лабораторные сети,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FFFFFF"/>
                </a:solidFill>
                <a:latin typeface="Segoe UI"/>
              </a:rPr>
              <a:t>ВЭБ.РФ, IPO МСП-биржа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A7A"/>
                </a:solidFill>
                <a:latin typeface="Segoe UI"/>
              </a:rPr>
              <a:t>Дополнительно: гранты ФСИ/Сколково/ВЭБ.РФ/ДЗМ — 10–20 млн ₽ non-dilutive. Cap table post-Series A: 63,1% основатель/МедТехПрима · 20,8% Seed · 13,8% Series A · 8,9% опционный пул.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Дорожная карта 2026–2030 и международный трек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A7A"/>
                </a:solidFill>
                <a:latin typeface="Segoe UI"/>
              </a:rPr>
              <a:t>Федеральный масштаб поэтапно; экспорт через зону свободной торговли Хайнань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2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56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VitaGen-AI  ·  Коммерческая тайна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562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A7A"/>
                </a:solidFill>
                <a:latin typeface="Segoe UI"/>
              </a:rPr>
              <a:t>14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121408" cy="50292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47088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2026  ·  Seed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86000"/>
            <a:ext cx="2121408" cy="173736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19385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Доработка ядра,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интеграции с МИС,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старт пилота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783080"/>
            <a:ext cx="2121408" cy="50292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847088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2027  ·  Series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2286000"/>
            <a:ext cx="2121408" cy="173736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2423160"/>
            <a:ext cx="19385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Пилот 8–10 тыс. циклов,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регистрация ИИ-МИ,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первые продажи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1783080"/>
            <a:ext cx="2121408" cy="50292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847088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2028  ·  Москва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2286000"/>
            <a:ext cx="2121408" cy="173736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60" y="2423160"/>
            <a:ext cx="19385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Модули niPGT-A/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эндометрий/CLBR,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~32 клиники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1783080"/>
            <a:ext cx="2121408" cy="50292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1847088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2029  ·  Регионы + матчинг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2286000"/>
            <a:ext cx="2121408" cy="173736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423160"/>
            <a:ext cx="19385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55 клиник, 3 региона B2G,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матчинг СМ, WFOE Хайнань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46920" y="1783080"/>
            <a:ext cx="2121408" cy="50292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1847088"/>
            <a:ext cx="21214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2030  ·  Федеральный + АТР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2286000"/>
            <a:ext cx="2121408" cy="173736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0" y="2423160"/>
            <a:ext cx="193852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85+ клиник, 391 млн ₽,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3 APAC-партнёра,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A2A3A"/>
                </a:solidFill>
                <a:latin typeface="Segoe UI"/>
              </a:rPr>
              <a:t>файлинг NMPA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251960"/>
            <a:ext cx="11201400" cy="2057400"/>
          </a:xfrm>
          <a:prstGeom prst="rect">
            <a:avLst/>
          </a:prstGeom>
          <a:solidFill>
            <a:srgbClr val="F2F8FC"/>
          </a:solidFill>
          <a:ln w="12700">
            <a:solidFill>
              <a:srgbClr val="D6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A2F4F"/>
                </a:solidFill>
                <a:latin typeface="Segoe UI"/>
              </a:rPr>
              <a:t>Китайский трек (детали — раздел 10 бизнес-плана)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0060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A2A3A"/>
                </a:solidFill>
                <a:latin typeface="Segoe UI"/>
              </a:rPr>
              <a:t>▪  2028 — gap-анализ NMPA, поиск партнёров · 2029 — регистрация WFOE, 1–2 пилотных партнёра (~8 млн ₽) · 2030 — 3 партнёра (~25,5 млн ₽)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0">
                <a:solidFill>
                  <a:srgbClr val="1A2A3A"/>
                </a:solidFill>
                <a:latin typeface="Segoe UI"/>
              </a:rPr>
              <a:t>▪  Льготный КН 15% (политика СПК Госсовета по Хайнаню), пилотный режим Боао Лэчэн, PIPL: локальный деплой, экспорт только агрегатов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91695" cy="63500"/>
          </a:xfrm>
          <a:prstGeom prst="rect">
            <a:avLst/>
          </a:prstGeom>
          <a:solidFill>
            <a:srgbClr val="2E9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45D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234440"/>
            <a:ext cx="32004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18872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Соединим клинику, генетику и ИИ —</a:t>
            </a:r>
          </a:p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Segoe UI"/>
              </a:rPr>
              <a:t>чтобы каждый цикл ВРТ давал ребёнка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7223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D6EAF7"/>
                </a:solidFill>
                <a:latin typeface="Segoe UI"/>
              </a:rPr>
              <a:t>Seeking:  Seed 35 млн ₽ (2026) + Series A 45 млн ₽ (2027)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D6EAF7"/>
                </a:solidFill>
                <a:latin typeface="Segoe UI"/>
              </a:rPr>
              <a:t>Структура:  непубличное АО, привилегированные акции, акционерное соглашение, опционный пул 12%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D6EAF7"/>
                </a:solidFill>
                <a:latin typeface="Segoe UI"/>
              </a:rPr>
              <a:t>Готовы:  due diligence, пилотный протокол, отчёт оценщика по ИС, model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23560"/>
            <a:ext cx="6858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Петрушина Марина Владимировна · генеральный директор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ООО «МедТехПрима»  ·  проектная компания: АО «ВИТА ГЕН АИ» (создаётся)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+7 985 728 66 55  ·  mar.petrushina@yandex.ru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9855" y="5852160"/>
            <a:ext cx="2651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0">
                <a:solidFill>
                  <a:srgbClr val="D6EAF7"/>
                </a:solidFill>
                <a:latin typeface="Segoe UI"/>
              </a:rPr>
              <a:t>VitaGen-AI · 2026</a:t>
            </a:r>
          </a:p>
          <a:p>
            <a:pPr algn="r">
              <a:lnSpc>
                <a:spcPct val="120000"/>
              </a:lnSpc>
            </a:pPr>
            <a:r>
              <a:rPr sz="1300" b="0">
                <a:solidFill>
                  <a:srgbClr val="D6EAF7"/>
                </a:solidFill>
                <a:latin typeface="Segoe UI"/>
              </a:rPr>
              <a:t>Коммерческая тайна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