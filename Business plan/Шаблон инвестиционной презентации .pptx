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94" r:id="rId2"/>
    <p:sldId id="307" r:id="rId3"/>
    <p:sldId id="389" r:id="rId4"/>
    <p:sldId id="411" r:id="rId5"/>
    <p:sldId id="403" r:id="rId6"/>
    <p:sldId id="404" r:id="rId7"/>
    <p:sldId id="409" r:id="rId8"/>
    <p:sldId id="410" r:id="rId9"/>
    <p:sldId id="412" r:id="rId10"/>
    <p:sldId id="415" r:id="rId11"/>
    <p:sldId id="405" r:id="rId12"/>
    <p:sldId id="406" r:id="rId13"/>
    <p:sldId id="413" r:id="rId14"/>
  </p:sldIdLst>
  <p:sldSz cx="11160125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6" userDrawn="1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A1A1"/>
    <a:srgbClr val="148B72"/>
    <a:srgbClr val="E5F7F1"/>
    <a:srgbClr val="FF43F7"/>
    <a:srgbClr val="B1E4D7"/>
    <a:srgbClr val="FFD2FF"/>
    <a:srgbClr val="E6E6E6"/>
    <a:srgbClr val="41F364"/>
    <a:srgbClr val="28BC28"/>
    <a:srgbClr val="DCE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45" autoAdjust="0"/>
    <p:restoredTop sz="96327"/>
  </p:normalViewPr>
  <p:slideViewPr>
    <p:cSldViewPr snapToGrid="0">
      <p:cViewPr varScale="1">
        <p:scale>
          <a:sx n="86" d="100"/>
          <a:sy n="86" d="100"/>
        </p:scale>
        <p:origin x="552" y="72"/>
      </p:cViewPr>
      <p:guideLst>
        <p:guide orient="horz" pos="476"/>
        <p:guide pos="4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2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148B7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4E-BB4E-85B4-993F3123735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5F7F1"/>
            </a:solidFill>
            <a:ln>
              <a:solidFill>
                <a:srgbClr val="148B72"/>
              </a:solidFill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4E-BB4E-85B4-993F3123735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bg1"/>
            </a:solidFill>
            <a:ln>
              <a:solidFill>
                <a:srgbClr val="148B72"/>
              </a:solidFill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4E-BB4E-85B4-993F31237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806208"/>
        <c:axId val="419312447"/>
      </c:barChart>
      <c:catAx>
        <c:axId val="22806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19312447"/>
        <c:crosses val="autoZero"/>
        <c:auto val="1"/>
        <c:lblAlgn val="ctr"/>
        <c:lblOffset val="100"/>
        <c:noMultiLvlLbl val="0"/>
      </c:catAx>
      <c:valAx>
        <c:axId val="4193124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2806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B1E4D7"/>
            </a:solidFill>
            <a:ln>
              <a:solidFill>
                <a:srgbClr val="148B72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48B72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Лист1!$D$7:$H$7</c:f>
              <c:numCache>
                <c:formatCode>#\ ##0.0_ ;[Red]\-#\ ##0.0\ </c:formatCode>
                <c:ptCount val="5"/>
                <c:pt idx="0">
                  <c:v>32</c:v>
                </c:pt>
                <c:pt idx="1">
                  <c:v>56</c:v>
                </c:pt>
                <c:pt idx="2">
                  <c:v>98</c:v>
                </c:pt>
                <c:pt idx="3">
                  <c:v>171.5</c:v>
                </c:pt>
                <c:pt idx="4">
                  <c:v>300.125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0-7342-9B84-B427EA79DE12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solidFill>
                <a:schemeClr val="accent2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2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Лист1!$D$8:$H$8</c:f>
              <c:numCache>
                <c:formatCode>#\ ##0.0_ ;[Red]\-#\ ##0.0\ </c:formatCode>
                <c:ptCount val="5"/>
                <c:pt idx="0">
                  <c:v>15.68</c:v>
                </c:pt>
                <c:pt idx="1">
                  <c:v>27.439999999999998</c:v>
                </c:pt>
                <c:pt idx="2">
                  <c:v>48.019999999999996</c:v>
                </c:pt>
                <c:pt idx="3">
                  <c:v>84.034999999999997</c:v>
                </c:pt>
                <c:pt idx="4">
                  <c:v>147.06125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40-7342-9B84-B427EA79DE12}"/>
            </c:ext>
          </c:extLst>
        </c:ser>
        <c:ser>
          <c:idx val="2"/>
          <c:order val="2"/>
          <c:spPr>
            <a:solidFill>
              <a:srgbClr val="148B7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148B72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Лист1!$D$9:$H$9</c:f>
              <c:numCache>
                <c:formatCode>#\ ##0.0_ ;[Red]\-#\ ##0.0\ </c:formatCode>
                <c:ptCount val="5"/>
                <c:pt idx="0">
                  <c:v>7.6831999999999994</c:v>
                </c:pt>
                <c:pt idx="1">
                  <c:v>13.445599999999999</c:v>
                </c:pt>
                <c:pt idx="2">
                  <c:v>23.529799999999998</c:v>
                </c:pt>
                <c:pt idx="3">
                  <c:v>41.177149999999997</c:v>
                </c:pt>
                <c:pt idx="4">
                  <c:v>72.060012499999999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40-7342-9B84-B427EA79DE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35"/>
        <c:axId val="2003054944"/>
        <c:axId val="2003056592"/>
      </c:barChart>
      <c:catAx>
        <c:axId val="20030549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RU"/>
          </a:p>
        </c:txPr>
        <c:crossAx val="2003056592"/>
        <c:crosses val="autoZero"/>
        <c:auto val="1"/>
        <c:lblAlgn val="ctr"/>
        <c:lblOffset val="100"/>
        <c:noMultiLvlLbl val="0"/>
      </c:catAx>
      <c:valAx>
        <c:axId val="2003056592"/>
        <c:scaling>
          <c:orientation val="minMax"/>
        </c:scaling>
        <c:delete val="1"/>
        <c:axPos val="l"/>
        <c:numFmt formatCode="#\ ##0.0_ ;[Red]\-#\ ##0.0\ " sourceLinked="1"/>
        <c:majorTickMark val="none"/>
        <c:minorTickMark val="none"/>
        <c:tickLblPos val="nextTo"/>
        <c:crossAx val="200305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6.8402887139107596E-2"/>
          <c:y val="6.9779362761543326E-2"/>
          <c:w val="0.55208311461067372"/>
          <c:h val="0.81580252084816018"/>
        </c:manualLayout>
      </c:layout>
      <c:doughnutChart>
        <c:varyColors val="1"/>
        <c:ser>
          <c:idx val="0"/>
          <c:order val="0"/>
          <c:spPr>
            <a:solidFill>
              <a:srgbClr val="B0FDFD"/>
            </a:solidFill>
          </c:spPr>
          <c:dPt>
            <c:idx val="0"/>
            <c:bubble3D val="0"/>
            <c:spPr>
              <a:solidFill>
                <a:srgbClr val="0BB9C3"/>
              </a:solidFill>
            </c:spPr>
            <c:extLst>
              <c:ext xmlns:c16="http://schemas.microsoft.com/office/drawing/2014/chart" uri="{C3380CC4-5D6E-409C-BE32-E72D297353CC}">
                <c16:uniqueId val="{00000001-3917-C44F-BA27-F9D8B27A6E30}"/>
              </c:ext>
            </c:extLst>
          </c:dPt>
          <c:dPt>
            <c:idx val="1"/>
            <c:bubble3D val="0"/>
            <c:spPr>
              <a:solidFill>
                <a:srgbClr val="E5F7F1"/>
              </a:solidFill>
            </c:spPr>
            <c:extLst>
              <c:ext xmlns:c16="http://schemas.microsoft.com/office/drawing/2014/chart" uri="{C3380CC4-5D6E-409C-BE32-E72D297353CC}">
                <c16:uniqueId val="{00000002-3917-C44F-BA27-F9D8B27A6E30}"/>
              </c:ext>
            </c:extLst>
          </c:dPt>
          <c:dPt>
            <c:idx val="2"/>
            <c:bubble3D val="0"/>
            <c:spPr>
              <a:solidFill>
                <a:srgbClr val="FFFED5"/>
              </a:solidFill>
            </c:spPr>
            <c:extLst>
              <c:ext xmlns:c16="http://schemas.microsoft.com/office/drawing/2014/chart" uri="{C3380CC4-5D6E-409C-BE32-E72D297353CC}">
                <c16:uniqueId val="{00000004-3917-C44F-BA27-F9D8B27A6E30}"/>
              </c:ext>
            </c:extLst>
          </c:dPt>
          <c:dPt>
            <c:idx val="3"/>
            <c:bubble3D val="0"/>
            <c:spPr>
              <a:solidFill>
                <a:srgbClr val="FFD2FF"/>
              </a:solidFill>
            </c:spPr>
            <c:extLst>
              <c:ext xmlns:c16="http://schemas.microsoft.com/office/drawing/2014/chart" uri="{C3380CC4-5D6E-409C-BE32-E72D297353CC}">
                <c16:uniqueId val="{00000006-3917-C44F-BA27-F9D8B27A6E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0" i="0">
                    <a:latin typeface="Century Gothic" panose="020B0502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Summary!$B$144:$B$147</c:f>
              <c:strCache>
                <c:ptCount val="4"/>
                <c:pt idx="0">
                  <c:v>ФОТ</c:v>
                </c:pt>
                <c:pt idx="1">
                  <c:v>Реклама и маркетинг</c:v>
                </c:pt>
                <c:pt idx="2">
                  <c:v>Сырье и материалы</c:v>
                </c:pt>
                <c:pt idx="3">
                  <c:v>Прочие</c:v>
                </c:pt>
              </c:strCache>
            </c:strRef>
          </c:cat>
          <c:val>
            <c:numRef>
              <c:f>Summary!$E$144:$E$147</c:f>
              <c:numCache>
                <c:formatCode>0%</c:formatCode>
                <c:ptCount val="4"/>
                <c:pt idx="0">
                  <c:v>0.46367038274134792</c:v>
                </c:pt>
                <c:pt idx="1">
                  <c:v>0.30977740909589985</c:v>
                </c:pt>
                <c:pt idx="2">
                  <c:v>0.10668556827142807</c:v>
                </c:pt>
                <c:pt idx="3">
                  <c:v>0.11986663989132418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917-C44F-BA27-F9D8B27A6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7"/>
      </c:doughnutChart>
    </c:plotArea>
    <c:legend>
      <c:legendPos val="b"/>
      <c:layout>
        <c:manualLayout>
          <c:xMode val="edge"/>
          <c:yMode val="edge"/>
          <c:x val="0.60297741520172299"/>
          <c:y val="0.25775073986413571"/>
          <c:w val="0.29890762435183404"/>
          <c:h val="0.48372388676254868"/>
        </c:manualLayout>
      </c:layout>
      <c:overlay val="0"/>
      <c:txPr>
        <a:bodyPr/>
        <a:lstStyle/>
        <a:p>
          <a:pPr lvl="0">
            <a:defRPr sz="900" b="0" i="0">
              <a:solidFill>
                <a:srgbClr val="1A1A1A"/>
              </a:solidFill>
              <a:latin typeface="Century Gothic" panose="020B0502020202020204" pitchFamily="34" charset="0"/>
            </a:defRPr>
          </a:pPr>
          <a:endParaRPr lang="ru-RU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EED9E-BC5D-4250-A669-E8BD3C60B5DB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1143000"/>
            <a:ext cx="4556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F0582-AA1A-4DA2-A3C0-F9298AD94C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34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1pPr>
    <a:lvl2pPr marL="488507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2pPr>
    <a:lvl3pPr marL="977016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3pPr>
    <a:lvl4pPr marL="1465524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4pPr>
    <a:lvl5pPr marL="1954032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5pPr>
    <a:lvl6pPr marL="2442540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6pPr>
    <a:lvl7pPr marL="2931048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7pPr>
    <a:lvl8pPr marL="3419556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8pPr>
    <a:lvl9pPr marL="3908065" algn="l" defTabSz="977016" rtl="0" eaLnBrk="1" latinLnBrk="0" hangingPunct="1">
      <a:defRPr sz="12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F0582-AA1A-4DA2-A3C0-F9298AD94CD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999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F0582-AA1A-4DA2-A3C0-F9298AD94CD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052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F0582-AA1A-4DA2-A3C0-F9298AD94CD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82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F0582-AA1A-4DA2-A3C0-F9298AD94CD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14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010" y="1237197"/>
            <a:ext cx="9486106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3970580"/>
            <a:ext cx="8370094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75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04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7" y="1884671"/>
            <a:ext cx="9625608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7" y="5059035"/>
            <a:ext cx="9625608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31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2012414"/>
            <a:ext cx="4743053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2012414"/>
            <a:ext cx="4743053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12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402484"/>
            <a:ext cx="9625608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4" y="1853171"/>
            <a:ext cx="47212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4" y="2761381"/>
            <a:ext cx="47212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4" y="1853171"/>
            <a:ext cx="474450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4" y="2761381"/>
            <a:ext cx="4744507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193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66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503978"/>
            <a:ext cx="3599431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1088455"/>
            <a:ext cx="5649813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2" y="2267902"/>
            <a:ext cx="3599431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23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503978"/>
            <a:ext cx="3599431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1088455"/>
            <a:ext cx="5649813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2" y="2267902"/>
            <a:ext cx="3599431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76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50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5" y="402483"/>
            <a:ext cx="2406402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402483"/>
            <a:ext cx="7079704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09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49" b="1" i="0">
                <a:solidFill>
                  <a:srgbClr val="4E94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8007" y="1738725"/>
            <a:ext cx="4854654" cy="4273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747464" y="1738725"/>
            <a:ext cx="4854654" cy="4273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023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402484"/>
            <a:ext cx="962560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2012414"/>
            <a:ext cx="962560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7006700"/>
            <a:ext cx="25110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E5C1E-A9F4-4EFC-A35B-F9A569956DE6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7006700"/>
            <a:ext cx="376654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7006700"/>
            <a:ext cx="25110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DAEF8-8670-43C8-945B-8AFFAE2020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6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8.pn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hyperlink" Target="mailto:info@moscow.ru" TargetMode="External"/><Relationship Id="rId4" Type="http://schemas.openxmlformats.org/officeDocument/2006/relationships/hyperlink" Target="https://future-it-dent.ru/" TargetMode="External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CB15723F-39BB-DA1D-69CA-2652AF038C8E}"/>
              </a:ext>
            </a:extLst>
          </p:cNvPr>
          <p:cNvSpPr/>
          <p:nvPr/>
        </p:nvSpPr>
        <p:spPr>
          <a:xfrm>
            <a:off x="4840804" y="902949"/>
            <a:ext cx="6326825" cy="6656727"/>
          </a:xfrm>
          <a:custGeom>
            <a:avLst/>
            <a:gdLst>
              <a:gd name="connsiteX0" fmla="*/ 5358555 w 6326825"/>
              <a:gd name="connsiteY0" fmla="*/ 0 h 6656727"/>
              <a:gd name="connsiteX1" fmla="*/ 6151882 w 6326825"/>
              <a:gd name="connsiteY1" fmla="*/ 114766 h 6656727"/>
              <a:gd name="connsiteX2" fmla="*/ 6326825 w 6326825"/>
              <a:gd name="connsiteY2" fmla="*/ 175957 h 6656727"/>
              <a:gd name="connsiteX3" fmla="*/ 6326825 w 6326825"/>
              <a:gd name="connsiteY3" fmla="*/ 5758700 h 6656727"/>
              <a:gd name="connsiteX4" fmla="*/ 5428798 w 6326825"/>
              <a:gd name="connsiteY4" fmla="*/ 6656727 h 6656727"/>
              <a:gd name="connsiteX5" fmla="*/ 320199 w 6326825"/>
              <a:gd name="connsiteY5" fmla="*/ 6656727 h 6656727"/>
              <a:gd name="connsiteX6" fmla="*/ 318797 w 6326825"/>
              <a:gd name="connsiteY6" fmla="*/ 6654355 h 6656727"/>
              <a:gd name="connsiteX7" fmla="*/ 816119 w 6326825"/>
              <a:gd name="connsiteY7" fmla="*/ 3388268 h 6656727"/>
              <a:gd name="connsiteX8" fmla="*/ 3388270 w 6326825"/>
              <a:gd name="connsiteY8" fmla="*/ 816118 h 6656727"/>
              <a:gd name="connsiteX9" fmla="*/ 5358555 w 6326825"/>
              <a:gd name="connsiteY9" fmla="*/ 0 h 6656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26825" h="6656727">
                <a:moveTo>
                  <a:pt x="5358555" y="0"/>
                </a:moveTo>
                <a:cubicBezTo>
                  <a:pt x="5625968" y="0"/>
                  <a:pt x="5893382" y="38255"/>
                  <a:pt x="6151882" y="114766"/>
                </a:cubicBezTo>
                <a:lnTo>
                  <a:pt x="6326825" y="175957"/>
                </a:lnTo>
                <a:lnTo>
                  <a:pt x="6326825" y="5758700"/>
                </a:lnTo>
                <a:lnTo>
                  <a:pt x="5428798" y="6656727"/>
                </a:lnTo>
                <a:lnTo>
                  <a:pt x="320199" y="6656727"/>
                </a:lnTo>
                <a:lnTo>
                  <a:pt x="318797" y="6654355"/>
                </a:lnTo>
                <a:cubicBezTo>
                  <a:pt x="-233783" y="5602853"/>
                  <a:pt x="-68009" y="4272397"/>
                  <a:pt x="816119" y="3388268"/>
                </a:cubicBezTo>
                <a:lnTo>
                  <a:pt x="3388270" y="816118"/>
                </a:lnTo>
                <a:cubicBezTo>
                  <a:pt x="3932349" y="272039"/>
                  <a:pt x="4645452" y="0"/>
                  <a:pt x="535855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4AE2963-589D-6A26-1B0B-D678A969247E}"/>
              </a:ext>
            </a:extLst>
          </p:cNvPr>
          <p:cNvGrpSpPr/>
          <p:nvPr/>
        </p:nvGrpSpPr>
        <p:grpSpPr>
          <a:xfrm>
            <a:off x="512915" y="3640058"/>
            <a:ext cx="4169039" cy="1893602"/>
            <a:chOff x="512915" y="4185546"/>
            <a:chExt cx="4169039" cy="1893602"/>
          </a:xfrm>
        </p:grpSpPr>
        <p:sp>
          <p:nvSpPr>
            <p:cNvPr id="29" name="Скругленный прямоугольник 144">
              <a:extLst>
                <a:ext uri="{FF2B5EF4-FFF2-40B4-BE49-F238E27FC236}">
                  <a16:creationId xmlns:a16="http://schemas.microsoft.com/office/drawing/2014/main" id="{F652FF29-2C84-0536-EE8C-A0EBB3A520DB}"/>
                </a:ext>
              </a:extLst>
            </p:cNvPr>
            <p:cNvSpPr/>
            <p:nvPr/>
          </p:nvSpPr>
          <p:spPr>
            <a:xfrm>
              <a:off x="512915" y="4185546"/>
              <a:ext cx="4169039" cy="1893602"/>
            </a:xfrm>
            <a:prstGeom prst="roundRect">
              <a:avLst>
                <a:gd name="adj" fmla="val 13615"/>
              </a:avLst>
            </a:prstGeom>
            <a:gradFill flip="none" rotWithShape="1">
              <a:gsLst>
                <a:gs pos="0">
                  <a:srgbClr val="34C6A7"/>
                </a:gs>
                <a:gs pos="50000">
                  <a:srgbClr val="148B72"/>
                </a:gs>
                <a:gs pos="100000">
                  <a:srgbClr val="00403A"/>
                </a:gs>
              </a:gsLst>
              <a:lin ang="12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76" dirty="0">
                <a:latin typeface="Century Gothic" panose="020B0502020202020204" pitchFamily="34" charset="0"/>
              </a:endParaRPr>
            </a:p>
          </p:txBody>
        </p:sp>
        <p:sp>
          <p:nvSpPr>
            <p:cNvPr id="6" name="object 45"/>
            <p:cNvSpPr txBox="1"/>
            <p:nvPr/>
          </p:nvSpPr>
          <p:spPr>
            <a:xfrm>
              <a:off x="588588" y="4483360"/>
              <a:ext cx="4028760" cy="313286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ru-RU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Краткое описание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805F4E7-66D6-BD6D-3680-14EB64CF15CD}"/>
              </a:ext>
            </a:extLst>
          </p:cNvPr>
          <p:cNvGrpSpPr/>
          <p:nvPr/>
        </p:nvGrpSpPr>
        <p:grpSpPr>
          <a:xfrm>
            <a:off x="510745" y="696234"/>
            <a:ext cx="1942037" cy="399178"/>
            <a:chOff x="8634552" y="423135"/>
            <a:chExt cx="1462048" cy="304019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A2729C1A-FBDA-4C7D-E521-A6FE6D6B30C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14738" y="426783"/>
              <a:ext cx="881862" cy="30037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BC2A2037-D3F1-FB8B-BCA5-534ABF8AE5A7}"/>
                </a:ext>
              </a:extLst>
            </p:cNvPr>
            <p:cNvSpPr/>
            <p:nvPr/>
          </p:nvSpPr>
          <p:spPr>
            <a:xfrm>
              <a:off x="8634552" y="423135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69B666A-A135-719A-CD61-506DEE19B454}"/>
              </a:ext>
            </a:extLst>
          </p:cNvPr>
          <p:cNvSpPr txBox="1"/>
          <p:nvPr/>
        </p:nvSpPr>
        <p:spPr>
          <a:xfrm>
            <a:off x="1127320" y="5489868"/>
            <a:ext cx="2910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1400" dirty="0">
              <a:latin typeface="Century Gothic" panose="020B0502020202020204" pitchFamily="34" charset="0"/>
            </a:endParaRPr>
          </a:p>
          <a:p>
            <a:pPr algn="ctr"/>
            <a:r>
              <a:rPr lang="ru-RU" sz="1400" dirty="0">
                <a:latin typeface="Century Gothic" panose="020B0502020202020204" pitchFamily="34" charset="0"/>
              </a:rPr>
              <a:t>ООО «ХХХ»</a:t>
            </a:r>
          </a:p>
          <a:p>
            <a:pPr algn="ctr"/>
            <a:r>
              <a:rPr lang="ru-RU" sz="1400" dirty="0">
                <a:latin typeface="Century Gothic" panose="020B0502020202020204" pitchFamily="34" charset="0"/>
              </a:rPr>
              <a:t>ИНН ХХХ</a:t>
            </a:r>
          </a:p>
          <a:p>
            <a:pPr algn="ctr"/>
            <a:endParaRPr lang="ru-RU" sz="1400" dirty="0">
              <a:latin typeface="Century Gothic" panose="020B0502020202020204" pitchFamily="34" charset="0"/>
            </a:endParaRPr>
          </a:p>
          <a:p>
            <a:pPr algn="ctr"/>
            <a:r>
              <a:rPr lang="ru-RU" sz="1400" dirty="0">
                <a:latin typeface="Century Gothic" panose="020B0502020202020204" pitchFamily="34" charset="0"/>
              </a:rPr>
              <a:t>Имя Отчество</a:t>
            </a:r>
          </a:p>
          <a:p>
            <a:pPr algn="ctr"/>
            <a:r>
              <a:rPr lang="ru-RU" sz="1400" dirty="0">
                <a:latin typeface="Century Gothic" panose="020B0502020202020204" pitchFamily="34" charset="0"/>
              </a:rPr>
              <a:t>+ 7 999 000 00 00</a:t>
            </a:r>
          </a:p>
          <a:p>
            <a:pPr algn="ctr"/>
            <a:r>
              <a:rPr lang="en-US" sz="1400" dirty="0" err="1">
                <a:latin typeface="Century Gothic" panose="020B0502020202020204" pitchFamily="34" charset="0"/>
              </a:rPr>
              <a:t>email@email.ru</a:t>
            </a:r>
            <a:endParaRPr lang="ru-RU" sz="1400" dirty="0">
              <a:latin typeface="Century Gothic" panose="020B0502020202020204" pitchFamily="34" charset="0"/>
            </a:endParaRPr>
          </a:p>
          <a:p>
            <a:pPr algn="ctr"/>
            <a:endParaRPr lang="ru-RU" sz="1400" dirty="0">
              <a:latin typeface="Century Gothic" panose="020B0502020202020204" pitchFamily="34" charset="0"/>
            </a:endParaRPr>
          </a:p>
        </p:txBody>
      </p:sp>
      <p:sp>
        <p:nvSpPr>
          <p:cNvPr id="32" name="Полилиния 31">
            <a:extLst>
              <a:ext uri="{FF2B5EF4-FFF2-40B4-BE49-F238E27FC236}">
                <a16:creationId xmlns:a16="http://schemas.microsoft.com/office/drawing/2014/main" id="{397C14C3-E432-C78F-78F5-6A4C7D0E439A}"/>
              </a:ext>
            </a:extLst>
          </p:cNvPr>
          <p:cNvSpPr/>
          <p:nvPr/>
        </p:nvSpPr>
        <p:spPr>
          <a:xfrm>
            <a:off x="9964354" y="1077261"/>
            <a:ext cx="1166698" cy="2392861"/>
          </a:xfrm>
          <a:custGeom>
            <a:avLst/>
            <a:gdLst>
              <a:gd name="connsiteX0" fmla="*/ 1166698 w 1166698"/>
              <a:gd name="connsiteY0" fmla="*/ 0 h 2392861"/>
              <a:gd name="connsiteX1" fmla="*/ 1166698 w 1166698"/>
              <a:gd name="connsiteY1" fmla="*/ 2347931 h 2392861"/>
              <a:gd name="connsiteX2" fmla="*/ 1143011 w 1166698"/>
              <a:gd name="connsiteY2" fmla="*/ 2356216 h 2392861"/>
              <a:gd name="connsiteX3" fmla="*/ 260588 w 1166698"/>
              <a:gd name="connsiteY3" fmla="*/ 2132274 h 2392861"/>
              <a:gd name="connsiteX4" fmla="*/ 260588 w 1166698"/>
              <a:gd name="connsiteY4" fmla="*/ 874047 h 2392861"/>
              <a:gd name="connsiteX5" fmla="*/ 1011236 w 1166698"/>
              <a:gd name="connsiteY5" fmla="*/ 123398 h 2392861"/>
              <a:gd name="connsiteX6" fmla="*/ 1150806 w 1166698"/>
              <a:gd name="connsiteY6" fmla="*/ 9391 h 2392861"/>
              <a:gd name="connsiteX7" fmla="*/ 1166698 w 1166698"/>
              <a:gd name="connsiteY7" fmla="*/ 0 h 239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6698" h="2392861">
                <a:moveTo>
                  <a:pt x="1166698" y="0"/>
                </a:moveTo>
                <a:lnTo>
                  <a:pt x="1166698" y="2347931"/>
                </a:lnTo>
                <a:lnTo>
                  <a:pt x="1143011" y="2356216"/>
                </a:lnTo>
                <a:cubicBezTo>
                  <a:pt x="840367" y="2445793"/>
                  <a:pt x="499459" y="2371146"/>
                  <a:pt x="260588" y="2132274"/>
                </a:cubicBezTo>
                <a:cubicBezTo>
                  <a:pt x="-86862" y="1784824"/>
                  <a:pt x="-86862" y="1221496"/>
                  <a:pt x="260588" y="874047"/>
                </a:cubicBezTo>
                <a:lnTo>
                  <a:pt x="1011236" y="123398"/>
                </a:lnTo>
                <a:cubicBezTo>
                  <a:pt x="1054667" y="79967"/>
                  <a:pt x="1101472" y="41965"/>
                  <a:pt x="1150806" y="9391"/>
                </a:cubicBezTo>
                <a:lnTo>
                  <a:pt x="1166698" y="0"/>
                </a:lnTo>
                <a:close/>
              </a:path>
            </a:pathLst>
          </a:custGeom>
          <a:noFill/>
          <a:ln w="57150" cap="flat" cmpd="sng">
            <a:solidFill>
              <a:srgbClr val="2DAB9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ru-RU" sz="1296">
              <a:latin typeface="Century Gothic"/>
            </a:endParaRPr>
          </a:p>
        </p:txBody>
      </p:sp>
      <p:sp>
        <p:nvSpPr>
          <p:cNvPr id="26" name="Полилиния 25">
            <a:extLst>
              <a:ext uri="{FF2B5EF4-FFF2-40B4-BE49-F238E27FC236}">
                <a16:creationId xmlns:a16="http://schemas.microsoft.com/office/drawing/2014/main" id="{3005DD2F-218E-396F-0B86-96AF071A21ED}"/>
              </a:ext>
            </a:extLst>
          </p:cNvPr>
          <p:cNvSpPr/>
          <p:nvPr/>
        </p:nvSpPr>
        <p:spPr>
          <a:xfrm>
            <a:off x="7537475" y="-5495"/>
            <a:ext cx="3622650" cy="3106033"/>
          </a:xfrm>
          <a:custGeom>
            <a:avLst/>
            <a:gdLst>
              <a:gd name="connsiteX0" fmla="*/ 684323 w 3622650"/>
              <a:gd name="connsiteY0" fmla="*/ 0 h 3106033"/>
              <a:gd name="connsiteX1" fmla="*/ 3622650 w 3622650"/>
              <a:gd name="connsiteY1" fmla="*/ 0 h 3106033"/>
              <a:gd name="connsiteX2" fmla="*/ 3622650 w 3622650"/>
              <a:gd name="connsiteY2" fmla="*/ 1905094 h 3106033"/>
              <a:gd name="connsiteX3" fmla="*/ 2923263 w 3622650"/>
              <a:gd name="connsiteY3" fmla="*/ 2604481 h 3106033"/>
              <a:gd name="connsiteX4" fmla="*/ 501552 w 3622650"/>
              <a:gd name="connsiteY4" fmla="*/ 2604481 h 3106033"/>
              <a:gd name="connsiteX5" fmla="*/ 501553 w 3622650"/>
              <a:gd name="connsiteY5" fmla="*/ 2604481 h 3106033"/>
              <a:gd name="connsiteX6" fmla="*/ 501553 w 3622650"/>
              <a:gd name="connsiteY6" fmla="*/ 182770 h 3106033"/>
              <a:gd name="connsiteX7" fmla="*/ 684323 w 3622650"/>
              <a:gd name="connsiteY7" fmla="*/ 0 h 3106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22650" h="3106033">
                <a:moveTo>
                  <a:pt x="684323" y="0"/>
                </a:moveTo>
                <a:lnTo>
                  <a:pt x="3622650" y="0"/>
                </a:lnTo>
                <a:lnTo>
                  <a:pt x="3622650" y="1905094"/>
                </a:lnTo>
                <a:lnTo>
                  <a:pt x="2923263" y="2604481"/>
                </a:lnTo>
                <a:cubicBezTo>
                  <a:pt x="2254526" y="3273218"/>
                  <a:pt x="1170289" y="3273218"/>
                  <a:pt x="501552" y="2604481"/>
                </a:cubicBezTo>
                <a:lnTo>
                  <a:pt x="501553" y="2604481"/>
                </a:lnTo>
                <a:cubicBezTo>
                  <a:pt x="-167184" y="1935744"/>
                  <a:pt x="-167184" y="851507"/>
                  <a:pt x="501553" y="182770"/>
                </a:cubicBezTo>
                <a:lnTo>
                  <a:pt x="684323" y="0"/>
                </a:lnTo>
                <a:close/>
              </a:path>
            </a:pathLst>
          </a:custGeom>
          <a:gradFill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ru-RU" sz="1296" dirty="0">
              <a:latin typeface="Calibri"/>
              <a:cs typeface="Calibri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B41B2D1-FB38-3419-F0D2-FBA74664BB7C}"/>
              </a:ext>
            </a:extLst>
          </p:cNvPr>
          <p:cNvSpPr/>
          <p:nvPr/>
        </p:nvSpPr>
        <p:spPr>
          <a:xfrm>
            <a:off x="4415845" y="517981"/>
            <a:ext cx="2311708" cy="78049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FDADA453-9141-82D3-3C36-649E21F46A1B}"/>
              </a:ext>
            </a:extLst>
          </p:cNvPr>
          <p:cNvSpPr txBox="1">
            <a:spLocks/>
          </p:cNvSpPr>
          <p:nvPr/>
        </p:nvSpPr>
        <p:spPr>
          <a:xfrm>
            <a:off x="678909" y="1511903"/>
            <a:ext cx="5617403" cy="1860795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b="1" spc="-11" dirty="0">
                <a:latin typeface="Century Gothic" panose="020B0502020202020204" pitchFamily="34" charset="0"/>
                <a:ea typeface="+mn-ea"/>
              </a:rPr>
              <a:t>Название проекта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EF387EB-7309-5BE4-C49F-FFE63238A215}"/>
              </a:ext>
            </a:extLst>
          </p:cNvPr>
          <p:cNvGrpSpPr/>
          <p:nvPr/>
        </p:nvGrpSpPr>
        <p:grpSpPr>
          <a:xfrm>
            <a:off x="5384040" y="6506207"/>
            <a:ext cx="5581650" cy="722505"/>
            <a:chOff x="5169671" y="6506207"/>
            <a:chExt cx="5581650" cy="722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CD09BC-5AA5-4E85-656D-31174BDC4F8B}"/>
                </a:ext>
              </a:extLst>
            </p:cNvPr>
            <p:cNvSpPr txBox="1"/>
            <p:nvPr/>
          </p:nvSpPr>
          <p:spPr>
            <a:xfrm>
              <a:off x="5169671" y="6506207"/>
              <a:ext cx="5581650" cy="722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tabLst/>
                <a:defRPr/>
              </a:pPr>
              <a:r>
                <a:rPr lang="ru-RU" sz="12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Для того, чтобы обрезать фото по фигуре: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2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выделяем фото и фигуру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 typeface="Arial" panose="020B0604020202020204" pitchFamily="34" charset="0"/>
                <a:buChar char="•"/>
                <a:tabLst/>
                <a:defRPr/>
              </a:pPr>
              <a:r>
                <a:rPr lang="ru-RU" sz="12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формат фигуры        объединить фигуры        пересечение</a:t>
              </a:r>
            </a:p>
          </p:txBody>
        </p:sp>
        <p:sp>
          <p:nvSpPr>
            <p:cNvPr id="12" name="Стрелка: вправо 2">
              <a:extLst>
                <a:ext uri="{FF2B5EF4-FFF2-40B4-BE49-F238E27FC236}">
                  <a16:creationId xmlns:a16="http://schemas.microsoft.com/office/drawing/2014/main" id="{640F94BA-C9EE-36A4-859B-281339419196}"/>
                </a:ext>
              </a:extLst>
            </p:cNvPr>
            <p:cNvSpPr/>
            <p:nvPr/>
          </p:nvSpPr>
          <p:spPr>
            <a:xfrm>
              <a:off x="6832961" y="7017617"/>
              <a:ext cx="190500" cy="150135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4" name="Стрелка: вправо 18">
              <a:extLst>
                <a:ext uri="{FF2B5EF4-FFF2-40B4-BE49-F238E27FC236}">
                  <a16:creationId xmlns:a16="http://schemas.microsoft.com/office/drawing/2014/main" id="{506354E9-86B6-0410-F49E-168E7EEC02FC}"/>
                </a:ext>
              </a:extLst>
            </p:cNvPr>
            <p:cNvSpPr/>
            <p:nvPr/>
          </p:nvSpPr>
          <p:spPr>
            <a:xfrm>
              <a:off x="8686750" y="7019385"/>
              <a:ext cx="190500" cy="150135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2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5F8B608-2685-DBDD-CF65-83D2EAF7041E}"/>
              </a:ext>
            </a:extLst>
          </p:cNvPr>
          <p:cNvSpPr txBox="1"/>
          <p:nvPr/>
        </p:nvSpPr>
        <p:spPr>
          <a:xfrm>
            <a:off x="7760129" y="4698426"/>
            <a:ext cx="1449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</a:rPr>
              <a:t>Фото / имидж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8527614-2F39-4E90-8764-6D55D3F7A1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258" y="696233"/>
            <a:ext cx="1524111" cy="38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Проблема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F6CE3BC-FA53-16C4-4D71-6F11E431668C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479C21EF-EA2E-CA29-4BCA-78B789798B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2AE52B9A-FDB5-2007-AD61-EA86605CD703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DDC22F3-F0ED-0A43-87E7-73334B901A75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86ABAE-4706-CFF2-D4D5-3DDA4F5B2584}"/>
              </a:ext>
            </a:extLst>
          </p:cNvPr>
          <p:cNvSpPr txBox="1"/>
          <p:nvPr/>
        </p:nvSpPr>
        <p:spPr>
          <a:xfrm>
            <a:off x="10279788" y="7024025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664D7A5-575C-12A0-C92F-CF92A29F52CC}"/>
              </a:ext>
            </a:extLst>
          </p:cNvPr>
          <p:cNvSpPr txBox="1"/>
          <p:nvPr/>
        </p:nvSpPr>
        <p:spPr>
          <a:xfrm>
            <a:off x="5540190" y="1065504"/>
            <a:ext cx="4752000" cy="363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Основная проблематика</a:t>
            </a:r>
          </a:p>
          <a:p>
            <a:pPr>
              <a:lnSpc>
                <a:spcPct val="120000"/>
              </a:lnSpc>
            </a:pPr>
            <a:endParaRPr lang="ru-RU" sz="300" b="1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008C4-5CAC-DE60-81A3-099235AD1C56}"/>
              </a:ext>
            </a:extLst>
          </p:cNvPr>
          <p:cNvSpPr txBox="1"/>
          <p:nvPr/>
        </p:nvSpPr>
        <p:spPr>
          <a:xfrm>
            <a:off x="670506" y="1067619"/>
            <a:ext cx="4644000" cy="363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Общая картина</a:t>
            </a:r>
          </a:p>
          <a:p>
            <a:pPr>
              <a:lnSpc>
                <a:spcPct val="120000"/>
              </a:lnSpc>
            </a:pPr>
            <a:endParaRPr lang="ru-RU" sz="300" b="1" dirty="0">
              <a:latin typeface="Century Gothic" panose="020B0502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BB97DA3-3074-BE72-0E95-2211970B20A0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sp>
        <p:nvSpPr>
          <p:cNvPr id="24" name="Google Shape;138;p18">
            <a:extLst>
              <a:ext uri="{FF2B5EF4-FFF2-40B4-BE49-F238E27FC236}">
                <a16:creationId xmlns:a16="http://schemas.microsoft.com/office/drawing/2014/main" id="{9BB12F9B-4530-56CA-C6B8-F56844DC7206}"/>
              </a:ext>
            </a:extLst>
          </p:cNvPr>
          <p:cNvSpPr txBox="1"/>
          <p:nvPr/>
        </p:nvSpPr>
        <p:spPr>
          <a:xfrm>
            <a:off x="764457" y="1425265"/>
            <a:ext cx="45000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Опишите читабельным текстом общую ситуацию на рынке, которую вы заметили и распознали как перспективную нишу. Например так: сегодня в мире повсеместно наблюдается рост такого явления, как шеринг-экономика. В целом под этим термином подразумевается модель совместного потребления. Сама по себе такая модель не нова, к ней можно отнести гостиницы, банки, такси, прокаты, колхозы и прочее. Однако современная шеринг-экономика имеет две свежие тенденции: … Добавьте инфографику для наглядности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5AD3889-5A5C-FCB8-5188-DE8A14D8DCA2}"/>
              </a:ext>
            </a:extLst>
          </p:cNvPr>
          <p:cNvGrpSpPr/>
          <p:nvPr/>
        </p:nvGrpSpPr>
        <p:grpSpPr>
          <a:xfrm>
            <a:off x="768323" y="4048656"/>
            <a:ext cx="4867067" cy="3111541"/>
            <a:chOff x="768323" y="3857738"/>
            <a:chExt cx="4867067" cy="3111541"/>
          </a:xfrm>
        </p:grpSpPr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7D784BDF-66AE-586D-E4DF-D6907DF5C4A4}"/>
                </a:ext>
              </a:extLst>
            </p:cNvPr>
            <p:cNvCxnSpPr/>
            <p:nvPr/>
          </p:nvCxnSpPr>
          <p:spPr>
            <a:xfrm>
              <a:off x="794423" y="6822831"/>
              <a:ext cx="417600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B24D1BC0-973B-DFB2-1F17-0DEA58D52D62}"/>
                </a:ext>
              </a:extLst>
            </p:cNvPr>
            <p:cNvGrpSpPr/>
            <p:nvPr/>
          </p:nvGrpSpPr>
          <p:grpSpPr>
            <a:xfrm>
              <a:off x="768323" y="3857738"/>
              <a:ext cx="4867067" cy="3111541"/>
              <a:chOff x="768323" y="3857738"/>
              <a:chExt cx="4867067" cy="3111541"/>
            </a:xfrm>
          </p:grpSpPr>
          <p:graphicFrame>
            <p:nvGraphicFramePr>
              <p:cNvPr id="26" name="Диаграмма 25">
                <a:extLst>
                  <a:ext uri="{FF2B5EF4-FFF2-40B4-BE49-F238E27FC236}">
                    <a16:creationId xmlns:a16="http://schemas.microsoft.com/office/drawing/2014/main" id="{85971015-2CAE-97F6-3492-D0943E31317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28082317"/>
                  </p:ext>
                </p:extLst>
              </p:nvPr>
            </p:nvGraphicFramePr>
            <p:xfrm>
              <a:off x="804471" y="4030838"/>
              <a:ext cx="4057676" cy="29384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29" name="Google Shape;138;p18">
                <a:extLst>
                  <a:ext uri="{FF2B5EF4-FFF2-40B4-BE49-F238E27FC236}">
                    <a16:creationId xmlns:a16="http://schemas.microsoft.com/office/drawing/2014/main" id="{CCDC9BBF-3ECC-F977-7C8F-DDBBE40BEEB9}"/>
                  </a:ext>
                </a:extLst>
              </p:cNvPr>
              <p:cNvSpPr txBox="1"/>
              <p:nvPr/>
            </p:nvSpPr>
            <p:spPr>
              <a:xfrm>
                <a:off x="3711362" y="3857738"/>
                <a:ext cx="192402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ru-RU" sz="1000" dirty="0">
                    <a:solidFill>
                      <a:srgbClr val="148B72"/>
                    </a:solidFill>
                    <a:latin typeface="Century Gothic" panose="020B0502020202020204" pitchFamily="34" charset="0"/>
                  </a:rPr>
                  <a:t>Что-то подпишите, </a:t>
                </a:r>
              </a:p>
              <a:p>
                <a:r>
                  <a:rPr lang="ru-RU" sz="1000" dirty="0">
                    <a:solidFill>
                      <a:srgbClr val="148B72"/>
                    </a:solidFill>
                    <a:latin typeface="Century Gothic" panose="020B0502020202020204" pitchFamily="34" charset="0"/>
                  </a:rPr>
                  <a:t>что-то укажите, </a:t>
                </a:r>
              </a:p>
              <a:p>
                <a:r>
                  <a:rPr lang="ru-RU" sz="1000" dirty="0">
                    <a:solidFill>
                      <a:srgbClr val="148B72"/>
                    </a:solidFill>
                    <a:latin typeface="Century Gothic" panose="020B0502020202020204" pitchFamily="34" charset="0"/>
                  </a:rPr>
                  <a:t>поясните</a:t>
                </a:r>
              </a:p>
            </p:txBody>
          </p: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D6A2DF46-575D-CC69-33AF-BBDA3182E2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33135" y="4101420"/>
                <a:ext cx="1033511" cy="749219"/>
              </a:xfrm>
              <a:prstGeom prst="line">
                <a:avLst/>
              </a:prstGeom>
              <a:ln>
                <a:solidFill>
                  <a:srgbClr val="148B7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4A332FF8-6012-B5AD-8A97-88F3BC4936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0835" y="4101420"/>
                <a:ext cx="963413" cy="1735667"/>
              </a:xfrm>
              <a:prstGeom prst="line">
                <a:avLst/>
              </a:prstGeom>
              <a:ln>
                <a:solidFill>
                  <a:srgbClr val="148B7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C73C0BF-3ECA-0AB9-040A-1193573DD050}"/>
                  </a:ext>
                </a:extLst>
              </p:cNvPr>
              <p:cNvSpPr/>
              <p:nvPr/>
            </p:nvSpPr>
            <p:spPr>
              <a:xfrm>
                <a:off x="1239751" y="4512524"/>
                <a:ext cx="663191" cy="1346479"/>
              </a:xfrm>
              <a:custGeom>
                <a:avLst/>
                <a:gdLst>
                  <a:gd name="connsiteX0" fmla="*/ 0 w 663191"/>
                  <a:gd name="connsiteY0" fmla="*/ 0 h 1346479"/>
                  <a:gd name="connsiteX1" fmla="*/ 663191 w 663191"/>
                  <a:gd name="connsiteY1" fmla="*/ 1346479 h 1346479"/>
                  <a:gd name="connsiteX0" fmla="*/ 0 w 663191"/>
                  <a:gd name="connsiteY0" fmla="*/ 0 h 1346479"/>
                  <a:gd name="connsiteX1" fmla="*/ 663191 w 663191"/>
                  <a:gd name="connsiteY1" fmla="*/ 1346479 h 1346479"/>
                  <a:gd name="connsiteX0" fmla="*/ 0 w 663191"/>
                  <a:gd name="connsiteY0" fmla="*/ 0 h 1346479"/>
                  <a:gd name="connsiteX1" fmla="*/ 663191 w 663191"/>
                  <a:gd name="connsiteY1" fmla="*/ 1346479 h 1346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3191" h="1346479">
                    <a:moveTo>
                      <a:pt x="0" y="0"/>
                    </a:moveTo>
                    <a:cubicBezTo>
                      <a:pt x="432079" y="247859"/>
                      <a:pt x="231112" y="917750"/>
                      <a:pt x="663191" y="1346479"/>
                    </a:cubicBezTo>
                  </a:path>
                </a:pathLst>
              </a:custGeom>
              <a:noFill/>
              <a:ln>
                <a:solidFill>
                  <a:schemeClr val="accent2">
                    <a:lumMod val="75000"/>
                  </a:schemeClr>
                </a:solidFill>
                <a:prstDash val="sysDot"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Google Shape;138;p18">
                <a:extLst>
                  <a:ext uri="{FF2B5EF4-FFF2-40B4-BE49-F238E27FC236}">
                    <a16:creationId xmlns:a16="http://schemas.microsoft.com/office/drawing/2014/main" id="{27AEDE0B-62E3-196E-B79A-50E963426D1B}"/>
                  </a:ext>
                </a:extLst>
              </p:cNvPr>
              <p:cNvSpPr txBox="1"/>
              <p:nvPr/>
            </p:nvSpPr>
            <p:spPr>
              <a:xfrm>
                <a:off x="768323" y="3926341"/>
                <a:ext cx="1362873" cy="465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r>
                  <a:rPr lang="ru-RU" sz="1000" dirty="0">
                    <a:solidFill>
                      <a:schemeClr val="accent2">
                        <a:lumMod val="75000"/>
                      </a:schemeClr>
                    </a:solidFill>
                    <a:latin typeface="Century Gothic" panose="020B0502020202020204" pitchFamily="34" charset="0"/>
                  </a:rPr>
                  <a:t>Ниспадающий тренд в этой части, </a:t>
                </a:r>
              </a:p>
              <a:p>
                <a:r>
                  <a:rPr lang="ru-RU" sz="1000" dirty="0">
                    <a:solidFill>
                      <a:schemeClr val="accent2">
                        <a:lumMod val="75000"/>
                      </a:schemeClr>
                    </a:solidFill>
                    <a:latin typeface="Century Gothic" panose="020B0502020202020204" pitchFamily="34" charset="0"/>
                  </a:rPr>
                  <a:t>-345% за 6 лет</a:t>
                </a:r>
              </a:p>
            </p:txBody>
          </p:sp>
        </p:grpSp>
      </p:grpSp>
      <p:sp>
        <p:nvSpPr>
          <p:cNvPr id="48" name="Google Shape;138;p18">
            <a:extLst>
              <a:ext uri="{FF2B5EF4-FFF2-40B4-BE49-F238E27FC236}">
                <a16:creationId xmlns:a16="http://schemas.microsoft.com/office/drawing/2014/main" id="{06A32468-306D-9F17-A576-84927D53015E}"/>
              </a:ext>
            </a:extLst>
          </p:cNvPr>
          <p:cNvSpPr txBox="1"/>
          <p:nvPr/>
        </p:nvSpPr>
        <p:spPr>
          <a:xfrm>
            <a:off x="5635390" y="1432361"/>
            <a:ext cx="4500000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Опишите понятно саму проблему. Например так: основной проблемой в вопросе обеспечения качественной уборки территорий, прилегающих к жилым кварталам, сегодня является дефицит квалифицированных кадров и ежегодный рост операционных затрат на содержание технических средств (технику нужно обслуживать, постоянно заправлять ГСМ и так далее). Кроме того технику приходится закупать и периодически обновлять, что влечёт за собой большие капитальные вложения.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608D4E31-1D57-8E3E-D0A2-BAD4A052CE6B}"/>
              </a:ext>
            </a:extLst>
          </p:cNvPr>
          <p:cNvGrpSpPr/>
          <p:nvPr/>
        </p:nvGrpSpPr>
        <p:grpSpPr>
          <a:xfrm>
            <a:off x="5644163" y="3980269"/>
            <a:ext cx="4452973" cy="1556894"/>
            <a:chOff x="6559514" y="4727023"/>
            <a:chExt cx="4452973" cy="1556894"/>
          </a:xfrm>
        </p:grpSpPr>
        <p:sp>
          <p:nvSpPr>
            <p:cNvPr id="54" name="Сектор 53">
              <a:extLst>
                <a:ext uri="{FF2B5EF4-FFF2-40B4-BE49-F238E27FC236}">
                  <a16:creationId xmlns:a16="http://schemas.microsoft.com/office/drawing/2014/main" id="{5427F208-81B9-D3A1-6DBA-00926C72B27A}"/>
                </a:ext>
              </a:extLst>
            </p:cNvPr>
            <p:cNvSpPr/>
            <p:nvPr/>
          </p:nvSpPr>
          <p:spPr>
            <a:xfrm>
              <a:off x="6559514" y="4915917"/>
              <a:ext cx="1368000" cy="1368000"/>
            </a:xfrm>
            <a:prstGeom prst="pie">
              <a:avLst>
                <a:gd name="adj1" fmla="val 496062"/>
                <a:gd name="adj2" fmla="val 16200000"/>
              </a:avLst>
            </a:prstGeom>
            <a:solidFill>
              <a:srgbClr val="E5F7F1"/>
            </a:solidFill>
            <a:ln>
              <a:solidFill>
                <a:srgbClr val="148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55" name="Сектор 54">
              <a:extLst>
                <a:ext uri="{FF2B5EF4-FFF2-40B4-BE49-F238E27FC236}">
                  <a16:creationId xmlns:a16="http://schemas.microsoft.com/office/drawing/2014/main" id="{44D70A86-B331-E33A-D7C6-7FBD2723ACAD}"/>
                </a:ext>
              </a:extLst>
            </p:cNvPr>
            <p:cNvSpPr/>
            <p:nvPr/>
          </p:nvSpPr>
          <p:spPr>
            <a:xfrm>
              <a:off x="6837332" y="4727023"/>
              <a:ext cx="1368000" cy="1368000"/>
            </a:xfrm>
            <a:prstGeom prst="pie">
              <a:avLst>
                <a:gd name="adj1" fmla="val 16266648"/>
                <a:gd name="adj2" fmla="val 410631"/>
              </a:avLst>
            </a:prstGeom>
            <a:noFill/>
            <a:ln>
              <a:solidFill>
                <a:srgbClr val="148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56" name="Google Shape;138;p18">
              <a:extLst>
                <a:ext uri="{FF2B5EF4-FFF2-40B4-BE49-F238E27FC236}">
                  <a16:creationId xmlns:a16="http://schemas.microsoft.com/office/drawing/2014/main" id="{2561045F-758A-536E-038A-6DC1AB066CB3}"/>
                </a:ext>
              </a:extLst>
            </p:cNvPr>
            <p:cNvSpPr txBox="1"/>
            <p:nvPr/>
          </p:nvSpPr>
          <p:spPr>
            <a:xfrm>
              <a:off x="8478771" y="4835285"/>
              <a:ext cx="2533716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dirty="0">
                  <a:solidFill>
                    <a:srgbClr val="148B72"/>
                  </a:solidFill>
                  <a:latin typeface="Century Gothic" panose="020B0502020202020204" pitchFamily="34" charset="0"/>
                </a:rPr>
                <a:t>Это рисунок, который демонстрирует проблему – ярко и понятно. Лучше если это будет в виде инфографики или каких-то нетипичных таблиц, которые наглядно дают понять, что не так сейчас происходит.</a:t>
              </a:r>
            </a:p>
          </p:txBody>
        </p:sp>
        <p:pic>
          <p:nvPicPr>
            <p:cNvPr id="58" name="Рисунок 57" descr="Пещерный рисунок контур">
              <a:extLst>
                <a:ext uri="{FF2B5EF4-FFF2-40B4-BE49-F238E27FC236}">
                  <a16:creationId xmlns:a16="http://schemas.microsoft.com/office/drawing/2014/main" id="{2C53D11E-5EB9-C7C2-D02C-5A4E74943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7585528" y="4912745"/>
              <a:ext cx="469130" cy="469130"/>
            </a:xfrm>
            <a:prstGeom prst="rect">
              <a:avLst/>
            </a:prstGeom>
          </p:spPr>
        </p:pic>
      </p:grpSp>
      <p:sp>
        <p:nvSpPr>
          <p:cNvPr id="62" name="Google Shape;138;p18">
            <a:extLst>
              <a:ext uri="{FF2B5EF4-FFF2-40B4-BE49-F238E27FC236}">
                <a16:creationId xmlns:a16="http://schemas.microsoft.com/office/drawing/2014/main" id="{E17A017A-7067-C94B-69CF-51C9977B35FB}"/>
              </a:ext>
            </a:extLst>
          </p:cNvPr>
          <p:cNvSpPr txBox="1"/>
          <p:nvPr/>
        </p:nvSpPr>
        <p:spPr>
          <a:xfrm>
            <a:off x="5654554" y="5856606"/>
            <a:ext cx="4500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Можно после рисунка ещё что-нибудь написать, например так: это свидетельствует о большом потенциале рынка – в ближайшее десятилетие рынок недвижимости в нашей стране может расти ещё большими темпами и объёма проблемы увеличится </a:t>
            </a:r>
          </a:p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в 39 раз!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CB4B2C-C852-45B2-99A7-EEF4C7C34A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6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Наше решение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75664" y="7028339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0D0FF-C3E8-68A5-60D1-AA7B512D4A7A}"/>
              </a:ext>
            </a:extLst>
          </p:cNvPr>
          <p:cNvSpPr txBox="1"/>
          <p:nvPr/>
        </p:nvSpPr>
        <p:spPr>
          <a:xfrm>
            <a:off x="5545574" y="1065155"/>
            <a:ext cx="4644000" cy="363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Как выглядит продукт</a:t>
            </a:r>
          </a:p>
          <a:p>
            <a:pPr>
              <a:lnSpc>
                <a:spcPct val="120000"/>
              </a:lnSpc>
            </a:pPr>
            <a:endParaRPr lang="ru-RU" sz="300" b="1" dirty="0">
              <a:latin typeface="Century Gothic" panose="020B0502020202020204" pitchFamily="34" charset="0"/>
            </a:endParaRPr>
          </a:p>
        </p:txBody>
      </p:sp>
      <p:pic>
        <p:nvPicPr>
          <p:cNvPr id="59" name="Рисунок 58" descr="Флажок со сплошной заливкой">
            <a:extLst>
              <a:ext uri="{FF2B5EF4-FFF2-40B4-BE49-F238E27FC236}">
                <a16:creationId xmlns:a16="http://schemas.microsoft.com/office/drawing/2014/main" id="{B6603D60-8D63-34D5-8F55-767CEE2A8F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952849" y="6304731"/>
            <a:ext cx="252000" cy="25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16D6A6-5E4B-8B44-0387-86BE85C55703}"/>
              </a:ext>
            </a:extLst>
          </p:cNvPr>
          <p:cNvSpPr txBox="1"/>
          <p:nvPr/>
        </p:nvSpPr>
        <p:spPr>
          <a:xfrm>
            <a:off x="669986" y="1063070"/>
            <a:ext cx="4644000" cy="363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Уникальность нашего решения</a:t>
            </a:r>
          </a:p>
          <a:p>
            <a:pPr>
              <a:lnSpc>
                <a:spcPct val="120000"/>
              </a:lnSpc>
            </a:pPr>
            <a:endParaRPr lang="ru-RU" sz="300" b="1" dirty="0">
              <a:latin typeface="Century Gothic" panose="020B0502020202020204" pitchFamily="34" charset="0"/>
            </a:endParaRPr>
          </a:p>
        </p:txBody>
      </p:sp>
      <p:sp>
        <p:nvSpPr>
          <p:cNvPr id="7" name="Google Shape;138;p18">
            <a:extLst>
              <a:ext uri="{FF2B5EF4-FFF2-40B4-BE49-F238E27FC236}">
                <a16:creationId xmlns:a16="http://schemas.microsoft.com/office/drawing/2014/main" id="{2D81B39B-E32F-7A01-E7A4-A7958FCBADDB}"/>
              </a:ext>
            </a:extLst>
          </p:cNvPr>
          <p:cNvSpPr txBox="1"/>
          <p:nvPr/>
        </p:nvSpPr>
        <p:spPr>
          <a:xfrm>
            <a:off x="5641822" y="1437312"/>
            <a:ext cx="4500000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Опишите читабельным текстом, что у вас за продукт, как выглядит, основные характеристики и так далее. Например так: мы создали водоочистную установку, которая встраивается прямо в трубу с водопроводной водой. К этой установке мы продаём два дополнительных модуля ионизации и фильтрации, а также 2 ИТ-решения: приложение для жильцов и веб-интерфейс для собственников дома…. Ниже можно добавить схематичный рисунок или фотографии для наглядности. Важно понятно показать, что это за продукт, из чего он состоит и так далее.</a:t>
            </a: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F6BF9B3B-81F0-90C9-4669-E0ED3D0A94AB}"/>
              </a:ext>
            </a:extLst>
          </p:cNvPr>
          <p:cNvGrpSpPr/>
          <p:nvPr/>
        </p:nvGrpSpPr>
        <p:grpSpPr>
          <a:xfrm>
            <a:off x="5641822" y="3995290"/>
            <a:ext cx="4800877" cy="3018641"/>
            <a:chOff x="5641822" y="3995290"/>
            <a:chExt cx="4800877" cy="3018641"/>
          </a:xfrm>
        </p:grpSpPr>
        <p:sp>
          <p:nvSpPr>
            <p:cNvPr id="19" name="Куб 18">
              <a:extLst>
                <a:ext uri="{FF2B5EF4-FFF2-40B4-BE49-F238E27FC236}">
                  <a16:creationId xmlns:a16="http://schemas.microsoft.com/office/drawing/2014/main" id="{64C2125C-3B46-0494-BDC4-78D64C7F70CA}"/>
                </a:ext>
              </a:extLst>
            </p:cNvPr>
            <p:cNvSpPr/>
            <p:nvPr/>
          </p:nvSpPr>
          <p:spPr>
            <a:xfrm>
              <a:off x="6425514" y="4955059"/>
              <a:ext cx="2817340" cy="976184"/>
            </a:xfrm>
            <a:prstGeom prst="cube">
              <a:avLst/>
            </a:prstGeom>
            <a:noFill/>
            <a:ln w="28575">
              <a:solidFill>
                <a:srgbClr val="148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Куб 19">
              <a:extLst>
                <a:ext uri="{FF2B5EF4-FFF2-40B4-BE49-F238E27FC236}">
                  <a16:creationId xmlns:a16="http://schemas.microsoft.com/office/drawing/2014/main" id="{9A1F2B8C-E4B5-E4D5-A7C7-C0F729442AFB}"/>
                </a:ext>
              </a:extLst>
            </p:cNvPr>
            <p:cNvSpPr/>
            <p:nvPr/>
          </p:nvSpPr>
          <p:spPr>
            <a:xfrm>
              <a:off x="8034125" y="3995290"/>
              <a:ext cx="770237" cy="1935953"/>
            </a:xfrm>
            <a:prstGeom prst="cube">
              <a:avLst/>
            </a:prstGeom>
            <a:noFill/>
            <a:ln>
              <a:solidFill>
                <a:srgbClr val="148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Куб 20">
              <a:extLst>
                <a:ext uri="{FF2B5EF4-FFF2-40B4-BE49-F238E27FC236}">
                  <a16:creationId xmlns:a16="http://schemas.microsoft.com/office/drawing/2014/main" id="{5D106C1F-A07D-F61B-1294-A9AEF287CB11}"/>
                </a:ext>
              </a:extLst>
            </p:cNvPr>
            <p:cNvSpPr/>
            <p:nvPr/>
          </p:nvSpPr>
          <p:spPr>
            <a:xfrm>
              <a:off x="7318527" y="4959952"/>
              <a:ext cx="949750" cy="1935953"/>
            </a:xfrm>
            <a:prstGeom prst="cube">
              <a:avLst/>
            </a:prstGeom>
            <a:noFill/>
            <a:ln>
              <a:solidFill>
                <a:srgbClr val="148B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Google Shape;138;p18">
              <a:extLst>
                <a:ext uri="{FF2B5EF4-FFF2-40B4-BE49-F238E27FC236}">
                  <a16:creationId xmlns:a16="http://schemas.microsoft.com/office/drawing/2014/main" id="{F06F9ADF-97ED-F40C-AD60-2A0BA4ACEAE1}"/>
                </a:ext>
              </a:extLst>
            </p:cNvPr>
            <p:cNvSpPr txBox="1"/>
            <p:nvPr/>
          </p:nvSpPr>
          <p:spPr>
            <a:xfrm>
              <a:off x="5641822" y="4335707"/>
              <a:ext cx="2584587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b="1" dirty="0">
                  <a:solidFill>
                    <a:srgbClr val="148B72"/>
                  </a:solidFill>
                  <a:latin typeface="Century Gothic" panose="020B0502020202020204" pitchFamily="34" charset="0"/>
                </a:rPr>
                <a:t>Основа продукта</a:t>
              </a:r>
            </a:p>
          </p:txBody>
        </p: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BF8F8730-1118-CF35-1374-B08886E7200D}"/>
                </a:ext>
              </a:extLst>
            </p:cNvPr>
            <p:cNvCxnSpPr/>
            <p:nvPr/>
          </p:nvCxnSpPr>
          <p:spPr>
            <a:xfrm>
              <a:off x="6295937" y="4584887"/>
              <a:ext cx="667108" cy="858264"/>
            </a:xfrm>
            <a:prstGeom prst="line">
              <a:avLst/>
            </a:prstGeom>
            <a:ln>
              <a:solidFill>
                <a:srgbClr val="148B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Google Shape;138;p18">
              <a:extLst>
                <a:ext uri="{FF2B5EF4-FFF2-40B4-BE49-F238E27FC236}">
                  <a16:creationId xmlns:a16="http://schemas.microsoft.com/office/drawing/2014/main" id="{2C05513C-C917-43A7-704F-8522A735BE16}"/>
                </a:ext>
              </a:extLst>
            </p:cNvPr>
            <p:cNvSpPr txBox="1"/>
            <p:nvPr/>
          </p:nvSpPr>
          <p:spPr>
            <a:xfrm>
              <a:off x="9019831" y="4057440"/>
              <a:ext cx="14228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dirty="0">
                  <a:solidFill>
                    <a:srgbClr val="148B72"/>
                  </a:solidFill>
                  <a:latin typeface="Century Gothic" panose="020B0502020202020204" pitchFamily="34" charset="0"/>
                </a:rPr>
                <a:t>Дополнительный модуль 1</a:t>
              </a:r>
            </a:p>
          </p:txBody>
        </p: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5CCD4C8C-FAD1-D209-681A-41A6C5891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945" y="4289240"/>
              <a:ext cx="180336" cy="186526"/>
            </a:xfrm>
            <a:prstGeom prst="line">
              <a:avLst/>
            </a:prstGeom>
            <a:ln>
              <a:solidFill>
                <a:srgbClr val="148B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Google Shape;138;p18">
              <a:extLst>
                <a:ext uri="{FF2B5EF4-FFF2-40B4-BE49-F238E27FC236}">
                  <a16:creationId xmlns:a16="http://schemas.microsoft.com/office/drawing/2014/main" id="{6EB0748E-411D-7EF7-F1E1-E74CF1B0DB68}"/>
                </a:ext>
              </a:extLst>
            </p:cNvPr>
            <p:cNvSpPr txBox="1"/>
            <p:nvPr/>
          </p:nvSpPr>
          <p:spPr>
            <a:xfrm>
              <a:off x="8779429" y="6388648"/>
              <a:ext cx="14228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dirty="0">
                  <a:solidFill>
                    <a:srgbClr val="148B72"/>
                  </a:solidFill>
                  <a:latin typeface="Century Gothic" panose="020B0502020202020204" pitchFamily="34" charset="0"/>
                </a:rPr>
                <a:t>Дополнительный модуль 2</a:t>
              </a:r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DAB539F4-C140-01ED-B5A5-F6A21CA5D097}"/>
                </a:ext>
              </a:extLst>
            </p:cNvPr>
            <p:cNvCxnSpPr>
              <a:cxnSpLocks/>
            </p:cNvCxnSpPr>
            <p:nvPr/>
          </p:nvCxnSpPr>
          <p:spPr>
            <a:xfrm>
              <a:off x="8166846" y="6197198"/>
              <a:ext cx="490033" cy="319340"/>
            </a:xfrm>
            <a:prstGeom prst="line">
              <a:avLst/>
            </a:prstGeom>
            <a:ln>
              <a:solidFill>
                <a:srgbClr val="148B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Рисунок 31" descr="Трактор контур">
              <a:extLst>
                <a:ext uri="{FF2B5EF4-FFF2-40B4-BE49-F238E27FC236}">
                  <a16:creationId xmlns:a16="http://schemas.microsoft.com/office/drawing/2014/main" id="{9578E1ED-F644-0FB0-4F21-BA0F11E26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9372431" y="4858633"/>
              <a:ext cx="914400" cy="914400"/>
            </a:xfrm>
            <a:prstGeom prst="rect">
              <a:avLst/>
            </a:prstGeom>
          </p:spPr>
        </p:pic>
        <p:pic>
          <p:nvPicPr>
            <p:cNvPr id="34" name="Рисунок 33" descr="Фермерский вид контур">
              <a:extLst>
                <a:ext uri="{FF2B5EF4-FFF2-40B4-BE49-F238E27FC236}">
                  <a16:creationId xmlns:a16="http://schemas.microsoft.com/office/drawing/2014/main" id="{1E5BD63F-29EA-295D-751A-0DEE7431B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6071367" y="6099531"/>
              <a:ext cx="914400" cy="914400"/>
            </a:xfrm>
            <a:prstGeom prst="rect">
              <a:avLst/>
            </a:prstGeom>
          </p:spPr>
        </p:pic>
      </p:grpSp>
      <p:sp>
        <p:nvSpPr>
          <p:cNvPr id="37" name="Google Shape;138;p18">
            <a:extLst>
              <a:ext uri="{FF2B5EF4-FFF2-40B4-BE49-F238E27FC236}">
                <a16:creationId xmlns:a16="http://schemas.microsoft.com/office/drawing/2014/main" id="{A22E0622-0143-0FC3-BE16-85E50B43BF58}"/>
              </a:ext>
            </a:extLst>
          </p:cNvPr>
          <p:cNvSpPr txBox="1"/>
          <p:nvPr/>
        </p:nvSpPr>
        <p:spPr>
          <a:xfrm>
            <a:off x="764457" y="1449979"/>
            <a:ext cx="4500000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Опишите читабельным текстом, в чём ваша главная фишка, как вы к этому пришли и так далее. Например так: уникальность проекта представляет собственное программное обеспечение, созданное полностью с нуля специалистами Супер Компании. Данный софт позволяет двигателю выполнять...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Можно это сделать в виде схематичного рисунка, или фотографии, или инфографики. Важно наглядно показать, ЧТО в вашем решении самое главное, что выгодно отличает вас на фоне всего существующего.</a:t>
            </a: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B9A26A83-4720-3142-2496-DD70E018093F}"/>
              </a:ext>
            </a:extLst>
          </p:cNvPr>
          <p:cNvGrpSpPr/>
          <p:nvPr/>
        </p:nvGrpSpPr>
        <p:grpSpPr>
          <a:xfrm>
            <a:off x="673112" y="4036380"/>
            <a:ext cx="4393927" cy="3089889"/>
            <a:chOff x="673112" y="3591531"/>
            <a:chExt cx="4393927" cy="3089889"/>
          </a:xfrm>
        </p:grpSpPr>
        <p:pic>
          <p:nvPicPr>
            <p:cNvPr id="39" name="Рисунок 38" descr="Животное из воздушного шарика контур">
              <a:extLst>
                <a:ext uri="{FF2B5EF4-FFF2-40B4-BE49-F238E27FC236}">
                  <a16:creationId xmlns:a16="http://schemas.microsoft.com/office/drawing/2014/main" id="{8035FD53-8F6E-72AC-7FD8-6A39EB240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687311" y="4360296"/>
              <a:ext cx="1266109" cy="1266109"/>
            </a:xfrm>
            <a:prstGeom prst="rect">
              <a:avLst/>
            </a:prstGeom>
          </p:spPr>
        </p:pic>
        <p:pic>
          <p:nvPicPr>
            <p:cNvPr id="41" name="Рисунок 40" descr="Шарики контур">
              <a:extLst>
                <a:ext uri="{FF2B5EF4-FFF2-40B4-BE49-F238E27FC236}">
                  <a16:creationId xmlns:a16="http://schemas.microsoft.com/office/drawing/2014/main" id="{6595E337-8451-EAB3-FC14-CB1A8C518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673112" y="3591531"/>
              <a:ext cx="914400" cy="914400"/>
            </a:xfrm>
            <a:prstGeom prst="rect">
              <a:avLst/>
            </a:prstGeom>
          </p:spPr>
        </p:pic>
        <p:sp>
          <p:nvSpPr>
            <p:cNvPr id="42" name="Google Shape;138;p18">
              <a:extLst>
                <a:ext uri="{FF2B5EF4-FFF2-40B4-BE49-F238E27FC236}">
                  <a16:creationId xmlns:a16="http://schemas.microsoft.com/office/drawing/2014/main" id="{95F6D1F5-1A8D-624A-2945-0A49E6D20328}"/>
                </a:ext>
              </a:extLst>
            </p:cNvPr>
            <p:cNvSpPr txBox="1"/>
            <p:nvPr/>
          </p:nvSpPr>
          <p:spPr>
            <a:xfrm>
              <a:off x="1678857" y="4030917"/>
              <a:ext cx="2584587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Все делают обычные шарики</a:t>
              </a:r>
            </a:p>
          </p:txBody>
        </p:sp>
        <p:sp>
          <p:nvSpPr>
            <p:cNvPr id="43" name="Google Shape;138;p18">
              <a:extLst>
                <a:ext uri="{FF2B5EF4-FFF2-40B4-BE49-F238E27FC236}">
                  <a16:creationId xmlns:a16="http://schemas.microsoft.com/office/drawing/2014/main" id="{AA56CCF6-0989-6263-C6B5-268428CC46C6}"/>
                </a:ext>
              </a:extLst>
            </p:cNvPr>
            <p:cNvSpPr txBox="1"/>
            <p:nvPr/>
          </p:nvSpPr>
          <p:spPr>
            <a:xfrm>
              <a:off x="2090405" y="4821857"/>
              <a:ext cx="2584587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dirty="0">
                  <a:solidFill>
                    <a:srgbClr val="148B72"/>
                  </a:solidFill>
                  <a:latin typeface="Century Gothic" panose="020B0502020202020204" pitchFamily="34" charset="0"/>
                </a:rPr>
                <a:t>А мы делаем из них фигурки животных</a:t>
              </a:r>
            </a:p>
          </p:txBody>
        </p:sp>
        <p:pic>
          <p:nvPicPr>
            <p:cNvPr id="45" name="Рисунок 44" descr="Контур Улыбка с лицом сердца контур">
              <a:extLst>
                <a:ext uri="{FF2B5EF4-FFF2-40B4-BE49-F238E27FC236}">
                  <a16:creationId xmlns:a16="http://schemas.microsoft.com/office/drawing/2014/main" id="{C3700A0E-9956-B71F-E839-FBF8489D4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2413269" y="5767020"/>
              <a:ext cx="914400" cy="914400"/>
            </a:xfrm>
            <a:prstGeom prst="rect">
              <a:avLst/>
            </a:prstGeom>
          </p:spPr>
        </p:pic>
        <p:sp>
          <p:nvSpPr>
            <p:cNvPr id="48" name="Google Shape;138;p18">
              <a:extLst>
                <a:ext uri="{FF2B5EF4-FFF2-40B4-BE49-F238E27FC236}">
                  <a16:creationId xmlns:a16="http://schemas.microsoft.com/office/drawing/2014/main" id="{05F18636-D80A-38EE-3BF7-9EBDCE0661AF}"/>
                </a:ext>
              </a:extLst>
            </p:cNvPr>
            <p:cNvSpPr txBox="1"/>
            <p:nvPr/>
          </p:nvSpPr>
          <p:spPr>
            <a:xfrm>
              <a:off x="3402711" y="5998854"/>
              <a:ext cx="16643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ru-RU" sz="1000" dirty="0">
                  <a:solidFill>
                    <a:srgbClr val="148B72"/>
                  </a:solidFill>
                  <a:latin typeface="Century Gothic" panose="020B0502020202020204" pitchFamily="34" charset="0"/>
                </a:rPr>
                <a:t>Поэтому счастливы дети – на 58% сильнее, чем обычно</a:t>
              </a: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B2E38FE0-492A-F1B5-1E53-B08F5E15D85C}"/>
                </a:ext>
              </a:extLst>
            </p:cNvPr>
            <p:cNvSpPr/>
            <p:nvPr/>
          </p:nvSpPr>
          <p:spPr>
            <a:xfrm>
              <a:off x="1442426" y="5400808"/>
              <a:ext cx="903248" cy="535258"/>
            </a:xfrm>
            <a:custGeom>
              <a:avLst/>
              <a:gdLst>
                <a:gd name="connsiteX0" fmla="*/ 0 w 903248"/>
                <a:gd name="connsiteY0" fmla="*/ 0 h 535258"/>
                <a:gd name="connsiteX1" fmla="*/ 903248 w 903248"/>
                <a:gd name="connsiteY1" fmla="*/ 535258 h 535258"/>
                <a:gd name="connsiteX0" fmla="*/ 0 w 903248"/>
                <a:gd name="connsiteY0" fmla="*/ 0 h 535258"/>
                <a:gd name="connsiteX1" fmla="*/ 903248 w 903248"/>
                <a:gd name="connsiteY1" fmla="*/ 535258 h 535258"/>
                <a:gd name="connsiteX0" fmla="*/ 0 w 903248"/>
                <a:gd name="connsiteY0" fmla="*/ 0 h 535258"/>
                <a:gd name="connsiteX1" fmla="*/ 903248 w 903248"/>
                <a:gd name="connsiteY1" fmla="*/ 535258 h 53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3248" h="535258">
                  <a:moveTo>
                    <a:pt x="0" y="0"/>
                  </a:moveTo>
                  <a:cubicBezTo>
                    <a:pt x="78058" y="669073"/>
                    <a:pt x="468351" y="11151"/>
                    <a:pt x="903248" y="535258"/>
                  </a:cubicBezTo>
                </a:path>
              </a:pathLst>
            </a:custGeom>
            <a:noFill/>
            <a:ln>
              <a:solidFill>
                <a:srgbClr val="148B7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7B28D0D9-7758-44D2-ADD4-FA61ADEA7307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36" name="object 3">
              <a:extLst>
                <a:ext uri="{FF2B5EF4-FFF2-40B4-BE49-F238E27FC236}">
                  <a16:creationId xmlns:a16="http://schemas.microsoft.com/office/drawing/2014/main" id="{1D4C1771-F4AB-4C68-8601-0D0B1C3D1A70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38" name="object 4">
              <a:extLst>
                <a:ext uri="{FF2B5EF4-FFF2-40B4-BE49-F238E27FC236}">
                  <a16:creationId xmlns:a16="http://schemas.microsoft.com/office/drawing/2014/main" id="{312C1D5F-8571-4955-8486-DF1C2523F4B7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BA1D2FD-7719-4B2F-9411-92F7B9C030CA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85F98116-9398-410C-8E02-775DD21BEC6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2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Конкуренты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86055" y="7044964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graphicFrame>
        <p:nvGraphicFramePr>
          <p:cNvPr id="14" name="Таблица 14">
            <a:extLst>
              <a:ext uri="{FF2B5EF4-FFF2-40B4-BE49-F238E27FC236}">
                <a16:creationId xmlns:a16="http://schemas.microsoft.com/office/drawing/2014/main" id="{6F3897CF-6B4F-EBBA-BF54-B20F87B3A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702811"/>
              </p:ext>
            </p:extLst>
          </p:nvPr>
        </p:nvGraphicFramePr>
        <p:xfrm>
          <a:off x="819076" y="1439641"/>
          <a:ext cx="971228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000">
                  <a:extLst>
                    <a:ext uri="{9D8B030D-6E8A-4147-A177-3AD203B41FA5}">
                      <a16:colId xmlns:a16="http://schemas.microsoft.com/office/drawing/2014/main" val="4114765977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9245868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09017707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0816825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8129754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587916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6971065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endParaRPr lang="ru-RU" sz="1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sz="100" b="0" kern="1200" dirty="0">
                        <a:solidFill>
                          <a:srgbClr val="148B72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sz="100" b="0" kern="1200" dirty="0">
                        <a:solidFill>
                          <a:srgbClr val="148B72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" b="0" dirty="0">
                        <a:solidFill>
                          <a:srgbClr val="148B7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21769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Характеристика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sz="800" b="0" kern="1200" dirty="0">
                        <a:solidFill>
                          <a:srgbClr val="148B72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sz="800" b="0" kern="1200" dirty="0">
                        <a:solidFill>
                          <a:srgbClr val="148B72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b="0" dirty="0">
                        <a:solidFill>
                          <a:srgbClr val="148B7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0655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8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53393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0812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E4D7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414846"/>
                  </a:ext>
                </a:extLst>
              </a:tr>
            </a:tbl>
          </a:graphicData>
        </a:graphic>
      </p:graphicFrame>
      <p:sp>
        <p:nvSpPr>
          <p:cNvPr id="30" name="Закрывающая квадратная скобка 29">
            <a:extLst>
              <a:ext uri="{FF2B5EF4-FFF2-40B4-BE49-F238E27FC236}">
                <a16:creationId xmlns:a16="http://schemas.microsoft.com/office/drawing/2014/main" id="{39BFD471-508E-BA7D-8B17-51C335AF2B34}"/>
              </a:ext>
            </a:extLst>
          </p:cNvPr>
          <p:cNvSpPr/>
          <p:nvPr/>
        </p:nvSpPr>
        <p:spPr>
          <a:xfrm rot="16200000">
            <a:off x="7012475" y="-676306"/>
            <a:ext cx="144000" cy="3852000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E1D887-C141-6E56-BC95-87978C641BE9}"/>
              </a:ext>
            </a:extLst>
          </p:cNvPr>
          <p:cNvSpPr txBox="1"/>
          <p:nvPr/>
        </p:nvSpPr>
        <p:spPr>
          <a:xfrm>
            <a:off x="6572888" y="1040757"/>
            <a:ext cx="999720" cy="2591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10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Прямые</a:t>
            </a:r>
          </a:p>
        </p:txBody>
      </p:sp>
      <p:sp>
        <p:nvSpPr>
          <p:cNvPr id="38" name="Закрывающая квадратная скобка 37">
            <a:extLst>
              <a:ext uri="{FF2B5EF4-FFF2-40B4-BE49-F238E27FC236}">
                <a16:creationId xmlns:a16="http://schemas.microsoft.com/office/drawing/2014/main" id="{754B42CC-D483-2D13-FB1F-43CED3513384}"/>
              </a:ext>
            </a:extLst>
          </p:cNvPr>
          <p:cNvSpPr/>
          <p:nvPr/>
        </p:nvSpPr>
        <p:spPr>
          <a:xfrm rot="16200000">
            <a:off x="9805843" y="615802"/>
            <a:ext cx="144000" cy="1260000"/>
          </a:xfrm>
          <a:prstGeom prst="rightBracke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AD5937-6863-B89D-5243-9D712749A63C}"/>
              </a:ext>
            </a:extLst>
          </p:cNvPr>
          <p:cNvSpPr txBox="1"/>
          <p:nvPr/>
        </p:nvSpPr>
        <p:spPr>
          <a:xfrm>
            <a:off x="9387068" y="1033883"/>
            <a:ext cx="999720" cy="2591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10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Косвенные</a:t>
            </a:r>
          </a:p>
        </p:txBody>
      </p:sp>
      <p:sp>
        <p:nvSpPr>
          <p:cNvPr id="15" name="Google Shape;138;p18">
            <a:extLst>
              <a:ext uri="{FF2B5EF4-FFF2-40B4-BE49-F238E27FC236}">
                <a16:creationId xmlns:a16="http://schemas.microsoft.com/office/drawing/2014/main" id="{A22E0622-0143-0FC3-BE16-85E50B43BF58}"/>
              </a:ext>
            </a:extLst>
          </p:cNvPr>
          <p:cNvSpPr txBox="1"/>
          <p:nvPr/>
        </p:nvSpPr>
        <p:spPr>
          <a:xfrm>
            <a:off x="819075" y="4922103"/>
            <a:ext cx="4924499" cy="280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1. </a:t>
            </a:r>
            <a:r>
              <a:rPr lang="ru-RU" sz="1200" u="sng" dirty="0">
                <a:latin typeface="Century Gothic" panose="020B0502020202020204" pitchFamily="34" charset="0"/>
              </a:rPr>
              <a:t>Качественные характеристики</a:t>
            </a:r>
            <a:r>
              <a:rPr lang="ru-RU" sz="1200" dirty="0">
                <a:latin typeface="Century Gothic" panose="020B0502020202020204" pitchFamily="34" charset="0"/>
              </a:rPr>
              <a:t> – аспекты, которые определяют уровень и качество продукта или услуги, включая такие элементы, как дизайн, функциональность, надежность, обслуживание клиентов и общая репутация бренда. </a:t>
            </a:r>
          </a:p>
          <a:p>
            <a:pPr marL="228600" indent="-228600">
              <a:lnSpc>
                <a:spcPct val="120000"/>
              </a:lnSpc>
              <a:buAutoNum type="arabicPeriod"/>
            </a:pPr>
            <a:endParaRPr lang="ru-RU" sz="8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2. </a:t>
            </a:r>
            <a:r>
              <a:rPr lang="ru-RU" sz="1200" u="sng" dirty="0">
                <a:latin typeface="Century Gothic" panose="020B0502020202020204" pitchFamily="34" charset="0"/>
              </a:rPr>
              <a:t>Уникальные особенности</a:t>
            </a:r>
            <a:r>
              <a:rPr lang="ru-RU" sz="1200" dirty="0">
                <a:latin typeface="Century Gothic" panose="020B0502020202020204" pitchFamily="34" charset="0"/>
              </a:rPr>
              <a:t> – подчеркните сильные стороны проекта и возможности, которые выделяют вас на фоне конкурентов.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sp>
        <p:nvSpPr>
          <p:cNvPr id="16" name="Google Shape;138;p18">
            <a:extLst>
              <a:ext uri="{FF2B5EF4-FFF2-40B4-BE49-F238E27FC236}">
                <a16:creationId xmlns:a16="http://schemas.microsoft.com/office/drawing/2014/main" id="{A22E0622-0143-0FC3-BE16-85E50B43BF58}"/>
              </a:ext>
            </a:extLst>
          </p:cNvPr>
          <p:cNvSpPr txBox="1"/>
          <p:nvPr/>
        </p:nvSpPr>
        <p:spPr>
          <a:xfrm>
            <a:off x="5816480" y="4922103"/>
            <a:ext cx="4714875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ru-RU" sz="8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3. </a:t>
            </a:r>
            <a:r>
              <a:rPr lang="ru-RU" sz="1200" u="sng" dirty="0">
                <a:latin typeface="Century Gothic" panose="020B0502020202020204" pitchFamily="34" charset="0"/>
              </a:rPr>
              <a:t>Целевая аудитория</a:t>
            </a:r>
            <a:r>
              <a:rPr lang="ru-RU" sz="1200" dirty="0">
                <a:latin typeface="Century Gothic" panose="020B0502020202020204" pitchFamily="34" charset="0"/>
              </a:rPr>
              <a:t> – определите группы потребителей, на которых ориентирован продукт или услуга, включая демографические характеристики (возраст, пол, доход), </a:t>
            </a:r>
            <a:r>
              <a:rPr lang="ru-RU" sz="1200" dirty="0" err="1">
                <a:latin typeface="Century Gothic" panose="020B0502020202020204" pitchFamily="34" charset="0"/>
              </a:rPr>
              <a:t>психографические</a:t>
            </a:r>
            <a:r>
              <a:rPr lang="ru-RU" sz="1200" dirty="0">
                <a:latin typeface="Century Gothic" panose="020B0502020202020204" pitchFamily="34" charset="0"/>
              </a:rPr>
              <a:t> факторы (интересы, образ жизни) и поведенческие аспекты (покупательские привычки, предпочтения).</a:t>
            </a:r>
          </a:p>
          <a:p>
            <a:pPr>
              <a:lnSpc>
                <a:spcPct val="120000"/>
              </a:lnSpc>
            </a:pPr>
            <a:endParaRPr lang="ru-RU" sz="8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4. </a:t>
            </a:r>
            <a:r>
              <a:rPr lang="ru-RU" sz="1200" u="sng" dirty="0">
                <a:latin typeface="Century Gothic" panose="020B0502020202020204" pitchFamily="34" charset="0"/>
              </a:rPr>
              <a:t>Ценовая политика</a:t>
            </a:r>
            <a:r>
              <a:rPr lang="ru-RU" sz="1200" dirty="0">
                <a:latin typeface="Century Gothic" panose="020B0502020202020204" pitchFamily="34" charset="0"/>
              </a:rPr>
              <a:t> – укажите ценовой диапазон или стратегию (цена продукта/услуги, условия получения и т.д.)</a:t>
            </a:r>
          </a:p>
          <a:p>
            <a:pPr>
              <a:lnSpc>
                <a:spcPct val="120000"/>
              </a:lnSpc>
            </a:pPr>
            <a:endParaRPr lang="ru-RU" sz="8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5. </a:t>
            </a:r>
            <a:r>
              <a:rPr lang="ru-RU" sz="1200" dirty="0">
                <a:latin typeface="Century Gothic" panose="020B0502020202020204" pitchFamily="34" charset="0"/>
              </a:rPr>
              <a:t>Другие характеристики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19076" y="4115812"/>
            <a:ext cx="971228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Перечислите основных конкурентов вашего проекта, включая их названия. Это могут быть как прямые конкуренты (предлагающие аналогичный продукт или услугу), так и косвенные (предлагающие замену)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885978" y="4629972"/>
            <a:ext cx="5578475" cy="2921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Характеристики конкурентов для сравнительного анализа: 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3F69DB4A-FD65-4AFA-B1AC-E107FD5C2072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19" name="object 3">
              <a:extLst>
                <a:ext uri="{FF2B5EF4-FFF2-40B4-BE49-F238E27FC236}">
                  <a16:creationId xmlns:a16="http://schemas.microsoft.com/office/drawing/2014/main" id="{33089500-E547-4CDB-8FAB-83B94A02F43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269D8DE1-4CCA-4429-98F9-59A5E52968D2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FCFE82-D7E9-4BFF-BDE6-2FDA12FE7A2F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1629F2E-5362-41C2-9AEA-025B210BC1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77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Рынок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75664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graphicFrame>
        <p:nvGraphicFramePr>
          <p:cNvPr id="6" name="Таблица 14">
            <a:extLst>
              <a:ext uri="{FF2B5EF4-FFF2-40B4-BE49-F238E27FC236}">
                <a16:creationId xmlns:a16="http://schemas.microsoft.com/office/drawing/2014/main" id="{5D5DB86E-02CE-90CB-6981-11B208C19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751589"/>
              </p:ext>
            </p:extLst>
          </p:nvPr>
        </p:nvGraphicFramePr>
        <p:xfrm>
          <a:off x="782057" y="1210779"/>
          <a:ext cx="9720000" cy="58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19548671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48781865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860622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59751121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4135375236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658892018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898483486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02141713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61319281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040135383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36174128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endParaRPr lang="ru-RU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2025</a:t>
                      </a:r>
                    </a:p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(1 год)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(2 год)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2027</a:t>
                      </a:r>
                    </a:p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(3 год)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2028 </a:t>
                      </a:r>
                    </a:p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(4 год)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2029</a:t>
                      </a:r>
                    </a:p>
                    <a:p>
                      <a:pPr algn="ctr"/>
                      <a:r>
                        <a:rPr lang="ru-RU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entury Gothic" panose="020B0502020202020204" pitchFamily="34" charset="0"/>
                        </a:rPr>
                        <a:t>(5 год)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57124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Кол-во ХХХХХ, шт.</a:t>
                      </a:r>
                    </a:p>
                    <a:p>
                      <a:r>
                        <a:rPr lang="ru-RU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Рынок ТАМ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133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Кол-во ХХХХ, шт.</a:t>
                      </a:r>
                    </a:p>
                    <a:p>
                      <a:r>
                        <a:rPr lang="ru-RU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Рынок </a:t>
                      </a:r>
                      <a:r>
                        <a:rPr lang="en-US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SAM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3424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Кол-во ХХХ, шт.</a:t>
                      </a:r>
                    </a:p>
                    <a:p>
                      <a:r>
                        <a:rPr lang="ru-RU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Рынок </a:t>
                      </a:r>
                      <a:r>
                        <a:rPr lang="en-US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SOM</a:t>
                      </a:r>
                      <a:endParaRPr lang="ru-RU" sz="900" dirty="0">
                        <a:solidFill>
                          <a:srgbClr val="179177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97313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9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1E4D7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563416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Ср. годовой чек</a:t>
                      </a:r>
                      <a:r>
                        <a:rPr lang="ru-RU" sz="900" b="1" spc="-11" dirty="0">
                          <a:latin typeface="Century Gothic" panose="020B0502020202020204" pitchFamily="34" charset="0"/>
                        </a:rPr>
                        <a:t>, </a:t>
                      </a:r>
                    </a:p>
                    <a:p>
                      <a:r>
                        <a:rPr lang="ru-RU" sz="900" b="0" spc="-11" dirty="0">
                          <a:latin typeface="Century Gothic" panose="020B0502020202020204" pitchFamily="34" charset="0"/>
                        </a:rPr>
                        <a:t>тыс. ₽</a:t>
                      </a:r>
                      <a:endParaRPr lang="ru-RU" sz="900" b="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8554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ru-RU" sz="9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800" b="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5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Рынок ТАМ</a:t>
                      </a:r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, млн ₽/ год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43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Рынок </a:t>
                      </a:r>
                      <a:r>
                        <a:rPr lang="en-US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S</a:t>
                      </a:r>
                      <a:r>
                        <a:rPr lang="ru-RU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АМ</a:t>
                      </a:r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, млн ₽/ год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26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Рынок </a:t>
                      </a:r>
                      <a:r>
                        <a:rPr lang="en-US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SO</a:t>
                      </a:r>
                      <a:r>
                        <a:rPr lang="ru-RU" sz="900" b="1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М</a:t>
                      </a:r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, млн ₽/ год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35675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ru-RU" sz="9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8B7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4313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Выручка проекта, млн ₽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47048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ru-RU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Доля проекта от рынка </a:t>
                      </a:r>
                      <a:r>
                        <a:rPr lang="en-US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TAM</a:t>
                      </a:r>
                      <a:r>
                        <a:rPr lang="ru-RU" sz="900" dirty="0">
                          <a:solidFill>
                            <a:srgbClr val="179177"/>
                          </a:solidFill>
                          <a:latin typeface="Century Gothic" panose="020B0502020202020204" pitchFamily="34" charset="0"/>
                        </a:rPr>
                        <a:t>, 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800" b="0" i="0" u="none" strike="noStrike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C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endParaRPr lang="ru-RU" sz="800" b="0" i="0" u="none" strike="noStrike" kern="1200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endParaRPr lang="ru-RU" sz="800" b="0" i="0" u="none" strike="noStrike" kern="1200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endParaRPr lang="ru-RU" sz="800" b="0" i="0" u="none" strike="noStrike" kern="1200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endParaRPr lang="ru-RU" sz="800" b="0" i="0" u="none" strike="noStrike" kern="1200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fontAlgn="ctr" latinLnBrk="0" hangingPunct="1"/>
                      <a:endParaRPr lang="ru-RU" sz="800" b="0" i="0" u="none" strike="noStrike" kern="1200" dirty="0">
                        <a:solidFill>
                          <a:srgbClr val="179177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9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738716"/>
                  </a:ext>
                </a:extLst>
              </a:tr>
            </a:tbl>
          </a:graphicData>
        </a:graphic>
      </p:graphicFrame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F8F8730-1118-CF35-1374-B08886E7200D}"/>
              </a:ext>
            </a:extLst>
          </p:cNvPr>
          <p:cNvCxnSpPr/>
          <p:nvPr/>
        </p:nvCxnSpPr>
        <p:spPr>
          <a:xfrm>
            <a:off x="1828621" y="1017474"/>
            <a:ext cx="667108" cy="858264"/>
          </a:xfrm>
          <a:prstGeom prst="line">
            <a:avLst/>
          </a:prstGeom>
          <a:ln>
            <a:solidFill>
              <a:srgbClr val="148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2266950" y="2069043"/>
            <a:ext cx="4019550" cy="3360207"/>
          </a:xfrm>
          <a:prstGeom prst="rect">
            <a:avLst/>
          </a:prstGeom>
          <a:ln>
            <a:solidFill>
              <a:srgbClr val="148B7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Укажите текущий объем целевого рынка и прогнозируемый рост на ближайшие 5 лет.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Используйте надежные источники данных (например, отчеты аналитических компаний) и обязательно указывайте их.</a:t>
            </a: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Опишите основные тенденции и изменения на рынке, которые могут повлиять на ваш проект.</a:t>
            </a: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Укажите факторы, способствующие росту вашего сегмента (например, технологические изменения).</a:t>
            </a:r>
          </a:p>
          <a:p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ru-RU" sz="1200" dirty="0">
                <a:solidFill>
                  <a:srgbClr val="A2A1A1"/>
                </a:solidFill>
                <a:latin typeface="Century Gothic" panose="020B0502020202020204" pitchFamily="34" charset="0"/>
              </a:rPr>
              <a:t>Удалите этот текст, как закончите с презентацией.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A25FAAE-2F4D-4ECD-B8E4-76608BF333DE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14" name="object 3">
              <a:extLst>
                <a:ext uri="{FF2B5EF4-FFF2-40B4-BE49-F238E27FC236}">
                  <a16:creationId xmlns:a16="http://schemas.microsoft.com/office/drawing/2014/main" id="{C6CBC798-616F-46DC-871A-FBC8D66B58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FEB489B5-22FB-43F2-A163-5B7960CE82F9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49FDC8-E81A-4E32-A3BF-173948A8B22A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E830607-1095-4F97-9CAD-04CD84151B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67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Бизнес-модель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75664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B07B4-58DA-182D-7AFC-52DED3716105}"/>
              </a:ext>
            </a:extLst>
          </p:cNvPr>
          <p:cNvSpPr txBox="1"/>
          <p:nvPr/>
        </p:nvSpPr>
        <p:spPr>
          <a:xfrm>
            <a:off x="5542588" y="1068984"/>
            <a:ext cx="4815264" cy="364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Способ привлечение клиентов</a:t>
            </a:r>
          </a:p>
          <a:p>
            <a:pPr>
              <a:lnSpc>
                <a:spcPct val="120000"/>
              </a:lnSpc>
            </a:pPr>
            <a:endParaRPr lang="ru-RU" sz="300" dirty="0">
              <a:latin typeface="Century Gothic" panose="020B0502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27F83-6527-F31A-E59E-42F9D4897FE8}"/>
              </a:ext>
            </a:extLst>
          </p:cNvPr>
          <p:cNvSpPr txBox="1"/>
          <p:nvPr/>
        </p:nvSpPr>
        <p:spPr>
          <a:xfrm>
            <a:off x="687063" y="1069927"/>
            <a:ext cx="4815264" cy="569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Модель монетизации</a:t>
            </a:r>
          </a:p>
          <a:p>
            <a:pPr>
              <a:lnSpc>
                <a:spcPct val="120000"/>
              </a:lnSpc>
            </a:pPr>
            <a:endParaRPr lang="ru-RU" sz="300" dirty="0">
              <a:latin typeface="Century Gothic" panose="020B0502020202020204" pitchFamily="34" charset="0"/>
            </a:endParaRP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sp>
        <p:nvSpPr>
          <p:cNvPr id="20" name="Google Shape;138;p18">
            <a:extLst>
              <a:ext uri="{FF2B5EF4-FFF2-40B4-BE49-F238E27FC236}">
                <a16:creationId xmlns:a16="http://schemas.microsoft.com/office/drawing/2014/main" id="{56152118-ECEA-35E3-890F-FC9EAC525221}"/>
              </a:ext>
            </a:extLst>
          </p:cNvPr>
          <p:cNvSpPr txBox="1"/>
          <p:nvPr/>
        </p:nvSpPr>
        <p:spPr>
          <a:xfrm>
            <a:off x="764457" y="1425265"/>
            <a:ext cx="4500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Опишите, как ваш проект зарабатывает деньги – можно сначала описать простым для понимания текстом (без сложных специальных терминов), потом вставить какие-то рисунки / инфографику или оформить в виде таблицы, типа такой: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2" name="Таблица 9">
            <a:extLst>
              <a:ext uri="{FF2B5EF4-FFF2-40B4-BE49-F238E27FC236}">
                <a16:creationId xmlns:a16="http://schemas.microsoft.com/office/drawing/2014/main" id="{4B294766-D1F6-920C-839A-7E92D2B6B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20131"/>
              </p:ext>
            </p:extLst>
          </p:nvPr>
        </p:nvGraphicFramePr>
        <p:xfrm>
          <a:off x="645499" y="2503379"/>
          <a:ext cx="4394262" cy="460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262">
                  <a:extLst>
                    <a:ext uri="{9D8B030D-6E8A-4147-A177-3AD203B41FA5}">
                      <a16:colId xmlns:a16="http://schemas.microsoft.com/office/drawing/2014/main" val="330387524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913871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395891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401704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125673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43264726"/>
                    </a:ext>
                  </a:extLst>
                </a:gridCol>
              </a:tblGrid>
              <a:tr h="318304">
                <a:tc>
                  <a:txBody>
                    <a:bodyPr/>
                    <a:lstStyle/>
                    <a:p>
                      <a:pPr algn="ctr"/>
                      <a:endParaRPr lang="ru-RU" sz="900" dirty="0"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1-й год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1858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Стоимость годовой подписки </a:t>
                      </a:r>
                    </a:p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(за 1 робота в работе)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, </a:t>
                      </a:r>
                    </a:p>
                    <a:p>
                      <a:pPr marL="84138" indent="0" algn="l"/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млн. руб.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2,4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2,4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2,4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2,4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2,4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64505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Среднее кол-во роботов на 1 офисный центр, </a:t>
                      </a:r>
                    </a:p>
                    <a:p>
                      <a:pPr marL="84138" indent="0" algn="l"/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шт.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72695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Себестоимость обслуживания 1 подписки (с 1 роботом) – администратор, техническое обслуживание и пр.</a:t>
                      </a:r>
                    </a:p>
                    <a:p>
                      <a:pPr marL="84138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млн. руб.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1,5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0,9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249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Себестоимость производства 1 робота, 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млн руб.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7156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Какие-то ещё данные из ФМ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rgbClr val="FF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01484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84138" marR="0" lvl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latin typeface="Century Gothic" panose="020B0502020202020204" pitchFamily="34" charset="0"/>
                        </a:rPr>
                        <a:t>Какие-то ещё данные из ФМ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347904"/>
                  </a:ext>
                </a:extLst>
              </a:tr>
            </a:tbl>
          </a:graphicData>
        </a:graphic>
      </p:graphicFrame>
      <p:sp>
        <p:nvSpPr>
          <p:cNvPr id="23" name="Google Shape;138;p18">
            <a:extLst>
              <a:ext uri="{FF2B5EF4-FFF2-40B4-BE49-F238E27FC236}">
                <a16:creationId xmlns:a16="http://schemas.microsoft.com/office/drawing/2014/main" id="{82633138-70BE-D00A-AF62-740EC8320355}"/>
              </a:ext>
            </a:extLst>
          </p:cNvPr>
          <p:cNvSpPr txBox="1"/>
          <p:nvPr/>
        </p:nvSpPr>
        <p:spPr>
          <a:xfrm>
            <a:off x="5638522" y="1420044"/>
            <a:ext cx="45000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latin typeface="Century Gothic" panose="020B0502020202020204" pitchFamily="34" charset="0"/>
              </a:rPr>
              <a:t>Если у вас ИТ-проект, тут скорее всего самым оптимальным будет вставить показатели </a:t>
            </a:r>
            <a:r>
              <a:rPr lang="en-US" sz="1200" dirty="0">
                <a:latin typeface="Century Gothic" panose="020B0502020202020204" pitchFamily="34" charset="0"/>
              </a:rPr>
              <a:t>Unit-</a:t>
            </a:r>
            <a:r>
              <a:rPr lang="ru-RU" sz="1200" dirty="0">
                <a:latin typeface="Century Gothic" panose="020B0502020202020204" pitchFamily="34" charset="0"/>
              </a:rPr>
              <a:t>экономики. В других проектах смысл тот же самый – нужно ясно и понятно описать, откуда берутся клиенты, сколько они стоят и какие действия вы предпринимаете для того, чтобы их становилось больше. Для </a:t>
            </a:r>
            <a:r>
              <a:rPr lang="en-US" sz="1200" dirty="0">
                <a:latin typeface="Century Gothic" panose="020B0502020202020204" pitchFamily="34" charset="0"/>
              </a:rPr>
              <a:t>Unit-</a:t>
            </a:r>
            <a:r>
              <a:rPr lang="ru-RU" sz="1200" dirty="0">
                <a:latin typeface="Century Gothic" panose="020B0502020202020204" pitchFamily="34" charset="0"/>
              </a:rPr>
              <a:t>экономики подойдёт какая-нибудь такая табличка (но делайте так, как считаете нужным, это просто пример):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4" name="Таблица 9">
            <a:extLst>
              <a:ext uri="{FF2B5EF4-FFF2-40B4-BE49-F238E27FC236}">
                <a16:creationId xmlns:a16="http://schemas.microsoft.com/office/drawing/2014/main" id="{E3AE1477-80E9-B244-00CD-D7FADD40E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405369"/>
              </p:ext>
            </p:extLst>
          </p:nvPr>
        </p:nvGraphicFramePr>
        <p:xfrm>
          <a:off x="5518906" y="3484326"/>
          <a:ext cx="5040000" cy="36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30387524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9138711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3555347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520425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63958915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24017049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ru-RU" sz="900" dirty="0"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1-й год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45720" marR="4572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18587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Средняя стоимость лицензии в месяц (</a:t>
                      </a:r>
                      <a:r>
                        <a:rPr lang="en-US" sz="900" dirty="0" err="1">
                          <a:latin typeface="Century Gothic" panose="020B0502020202020204" pitchFamily="34" charset="0"/>
                        </a:rPr>
                        <a:t>AvP</a:t>
                      </a:r>
                      <a:r>
                        <a:rPr lang="en-US" sz="900" dirty="0">
                          <a:latin typeface="Century Gothic" panose="020B0502020202020204" pitchFamily="34" charset="0"/>
                        </a:rPr>
                        <a:t> / m</a:t>
                      </a:r>
                      <a:r>
                        <a:rPr lang="ru-RU" sz="900" dirty="0">
                          <a:latin typeface="Century Gothic" panose="020B0502020202020204" pitchFamily="34" charset="0"/>
                        </a:rPr>
                        <a:t>)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, тыс. руб.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9,0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9,0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9,0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,0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64505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Средняя выручка с 1 клиента за время использования продукта (</a:t>
                      </a:r>
                      <a:r>
                        <a:rPr lang="en" sz="9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AvP</a:t>
                      </a:r>
                      <a:r>
                        <a:rPr lang="en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),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 тыс. руб. 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538,8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538,8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538,8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1 033,1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1 248,5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72695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Средние расходы маркетинга на 1 нового клиента (</a:t>
                      </a:r>
                      <a:r>
                        <a:rPr lang="en-US" sz="900" dirty="0">
                          <a:latin typeface="Century Gothic" panose="020B0502020202020204" pitchFamily="34" charset="0"/>
                        </a:rPr>
                        <a:t>CPA</a:t>
                      </a:r>
                      <a:r>
                        <a:rPr lang="ru-RU" sz="900" dirty="0">
                          <a:latin typeface="Century Gothic" panose="020B0502020202020204" pitchFamily="34" charset="0"/>
                        </a:rPr>
                        <a:t>) по всем каналам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, тыс. руб.</a:t>
                      </a:r>
                      <a:endParaRPr lang="ru-RU" sz="900" dirty="0"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110,1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110,1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110,1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64,3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128,6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0249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Себестоимость обслуживания 1 клиента (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COGS)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, тыс. руб. 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715,6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715,6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715,6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162,6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148,5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71567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Доход с 1 клиента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, тыс. руб.</a:t>
                      </a:r>
                      <a:r>
                        <a:rPr lang="ru-RU" sz="900" dirty="0"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( = </a:t>
                      </a:r>
                      <a:r>
                        <a:rPr lang="en-US" sz="900" dirty="0">
                          <a:latin typeface="Century Gothic" panose="020B0502020202020204" pitchFamily="34" charset="0"/>
                        </a:rPr>
                        <a:t>AvP</a:t>
                      </a:r>
                      <a:r>
                        <a:rPr lang="ru-RU" sz="900" dirty="0">
                          <a:latin typeface="Century Gothic" panose="020B0502020202020204" pitchFamily="34" charset="0"/>
                        </a:rPr>
                        <a:t> – </a:t>
                      </a:r>
                      <a:r>
                        <a:rPr lang="en-US" sz="900" dirty="0">
                          <a:latin typeface="Century Gothic" panose="020B0502020202020204" pitchFamily="34" charset="0"/>
                        </a:rPr>
                        <a:t>CPA</a:t>
                      </a:r>
                      <a:r>
                        <a:rPr lang="ru-RU" sz="900" dirty="0">
                          <a:latin typeface="Century Gothic" panose="020B0502020202020204" pitchFamily="34" charset="0"/>
                        </a:rPr>
                        <a:t> – 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COGS</a:t>
                      </a:r>
                      <a:r>
                        <a:rPr lang="ru-RU" sz="9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)</a:t>
                      </a:r>
                      <a:endParaRPr lang="ru-RU" sz="900" dirty="0"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(287,0)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(287,0)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(287,0)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806,1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971,8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01484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900" dirty="0">
                          <a:latin typeface="Century Gothic" panose="020B0502020202020204" pitchFamily="34" charset="0"/>
                        </a:rPr>
                        <a:t>Средняя продолжительность использования нашей лицензии (</a:t>
                      </a:r>
                      <a:r>
                        <a:rPr lang="en-US" sz="900" dirty="0">
                          <a:latin typeface="Century Gothic" panose="020B0502020202020204" pitchFamily="34" charset="0"/>
                        </a:rPr>
                        <a:t>LTV)</a:t>
                      </a:r>
                      <a:r>
                        <a:rPr lang="ru-RU" sz="9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. лет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36000" marR="36000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347904"/>
                  </a:ext>
                </a:extLst>
              </a:tr>
            </a:tbl>
          </a:graphicData>
        </a:graphic>
      </p:graphicFrame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59C760F-9DE6-406C-AAFF-67EC10032F0D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18" name="object 3">
              <a:extLst>
                <a:ext uri="{FF2B5EF4-FFF2-40B4-BE49-F238E27FC236}">
                  <a16:creationId xmlns:a16="http://schemas.microsoft.com/office/drawing/2014/main" id="{AACAF0D0-4543-4B68-8BF8-C7467C83379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19" name="object 4">
              <a:extLst>
                <a:ext uri="{FF2B5EF4-FFF2-40B4-BE49-F238E27FC236}">
                  <a16:creationId xmlns:a16="http://schemas.microsoft.com/office/drawing/2014/main" id="{B40685BD-9CCA-48E0-B9BE-3580B0E9A989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017117-5B6B-449B-8270-227239F0477D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11870B7-ED58-4AE5-81D8-A99F4AA0C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7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397AAE49-7595-9FDD-B870-090C2DE9E87F}"/>
              </a:ext>
            </a:extLst>
          </p:cNvPr>
          <p:cNvCxnSpPr>
            <a:cxnSpLocks/>
          </p:cNvCxnSpPr>
          <p:nvPr/>
        </p:nvCxnSpPr>
        <p:spPr>
          <a:xfrm flipH="1">
            <a:off x="9448347" y="1577253"/>
            <a:ext cx="6141" cy="31661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53A1A1E2-3335-8F9A-E42C-3917EB6C3ABF}"/>
              </a:ext>
            </a:extLst>
          </p:cNvPr>
          <p:cNvCxnSpPr>
            <a:cxnSpLocks/>
          </p:cNvCxnSpPr>
          <p:nvPr/>
        </p:nvCxnSpPr>
        <p:spPr>
          <a:xfrm flipH="1">
            <a:off x="8370396" y="1570082"/>
            <a:ext cx="6406" cy="31733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1BF54EBE-7FA3-BDA4-8529-B622F1B21A41}"/>
              </a:ext>
            </a:extLst>
          </p:cNvPr>
          <p:cNvCxnSpPr>
            <a:cxnSpLocks/>
          </p:cNvCxnSpPr>
          <p:nvPr/>
        </p:nvCxnSpPr>
        <p:spPr>
          <a:xfrm flipH="1">
            <a:off x="7293846" y="1577253"/>
            <a:ext cx="1568" cy="31661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D14C0C32-9C55-C16D-0FFD-2D4D4B36DC30}"/>
              </a:ext>
            </a:extLst>
          </p:cNvPr>
          <p:cNvCxnSpPr>
            <a:cxnSpLocks/>
          </p:cNvCxnSpPr>
          <p:nvPr/>
        </p:nvCxnSpPr>
        <p:spPr>
          <a:xfrm flipH="1">
            <a:off x="6206352" y="1570082"/>
            <a:ext cx="4970" cy="31733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0F34B414-3F14-9362-0288-5879BC311BC1}"/>
              </a:ext>
            </a:extLst>
          </p:cNvPr>
          <p:cNvCxnSpPr>
            <a:cxnSpLocks/>
          </p:cNvCxnSpPr>
          <p:nvPr/>
        </p:nvCxnSpPr>
        <p:spPr>
          <a:xfrm flipH="1">
            <a:off x="5108574" y="1559196"/>
            <a:ext cx="3291" cy="31842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Дорожная карта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75664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04BDBA-FB26-A8C9-10D8-07D02D2A85B8}"/>
              </a:ext>
            </a:extLst>
          </p:cNvPr>
          <p:cNvCxnSpPr/>
          <p:nvPr/>
        </p:nvCxnSpPr>
        <p:spPr>
          <a:xfrm>
            <a:off x="782058" y="1505418"/>
            <a:ext cx="9752443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:a16="http://schemas.microsoft.com/office/drawing/2014/main" id="{CAE857CF-71A8-49B1-130B-995229B4059A}"/>
              </a:ext>
            </a:extLst>
          </p:cNvPr>
          <p:cNvSpPr/>
          <p:nvPr/>
        </p:nvSpPr>
        <p:spPr>
          <a:xfrm>
            <a:off x="1752328" y="1408511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5953D8-AB03-BFDD-3D35-9DC2E1FCEE6F}"/>
              </a:ext>
            </a:extLst>
          </p:cNvPr>
          <p:cNvSpPr txBox="1"/>
          <p:nvPr/>
        </p:nvSpPr>
        <p:spPr>
          <a:xfrm>
            <a:off x="1561293" y="1154399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2022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88B1436-D426-E2B7-BD51-1ACE9CF7789D}"/>
              </a:ext>
            </a:extLst>
          </p:cNvPr>
          <p:cNvSpPr/>
          <p:nvPr/>
        </p:nvSpPr>
        <p:spPr>
          <a:xfrm>
            <a:off x="2838242" y="1393911"/>
            <a:ext cx="216000" cy="216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A3731-C5F3-45C6-3678-746D5751F1BB}"/>
              </a:ext>
            </a:extLst>
          </p:cNvPr>
          <p:cNvSpPr txBox="1"/>
          <p:nvPr/>
        </p:nvSpPr>
        <p:spPr>
          <a:xfrm>
            <a:off x="2647207" y="1139799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2023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694E5D0-438A-6FF4-080E-AB4022F651EB}"/>
              </a:ext>
            </a:extLst>
          </p:cNvPr>
          <p:cNvSpPr/>
          <p:nvPr/>
        </p:nvSpPr>
        <p:spPr>
          <a:xfrm>
            <a:off x="3924955" y="1401347"/>
            <a:ext cx="216000" cy="216000"/>
          </a:xfrm>
          <a:prstGeom prst="ellipse">
            <a:avLst/>
          </a:prstGeom>
          <a:solidFill>
            <a:srgbClr val="1791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18FE13-8C7D-7785-BF3B-517CCC77A948}"/>
              </a:ext>
            </a:extLst>
          </p:cNvPr>
          <p:cNvSpPr txBox="1"/>
          <p:nvPr/>
        </p:nvSpPr>
        <p:spPr>
          <a:xfrm>
            <a:off x="3733920" y="1147235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rgbClr val="179177"/>
                </a:solidFill>
                <a:latin typeface="Century Gothic" panose="020B0502020202020204" pitchFamily="34" charset="0"/>
              </a:rPr>
              <a:t>2024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0A3EC410-4664-0059-9185-D1FB893229F3}"/>
              </a:ext>
            </a:extLst>
          </p:cNvPr>
          <p:cNvSpPr/>
          <p:nvPr/>
        </p:nvSpPr>
        <p:spPr>
          <a:xfrm>
            <a:off x="5011130" y="1408783"/>
            <a:ext cx="216000" cy="216000"/>
          </a:xfrm>
          <a:prstGeom prst="ellipse">
            <a:avLst/>
          </a:prstGeom>
          <a:pattFill prst="dk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C3C909-7912-F4CA-7E61-172E4E3FCBAC}"/>
              </a:ext>
            </a:extLst>
          </p:cNvPr>
          <p:cNvSpPr txBox="1"/>
          <p:nvPr/>
        </p:nvSpPr>
        <p:spPr>
          <a:xfrm>
            <a:off x="4820095" y="1154671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2025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7D445B-D561-B296-9CCE-A9F05D140A00}"/>
              </a:ext>
            </a:extLst>
          </p:cNvPr>
          <p:cNvSpPr txBox="1"/>
          <p:nvPr/>
        </p:nvSpPr>
        <p:spPr>
          <a:xfrm>
            <a:off x="5927783" y="1139805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E50608-4EFE-80F4-282C-3A6320D6B979}"/>
              </a:ext>
            </a:extLst>
          </p:cNvPr>
          <p:cNvSpPr txBox="1"/>
          <p:nvPr/>
        </p:nvSpPr>
        <p:spPr>
          <a:xfrm>
            <a:off x="7003607" y="1147242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2027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B2AB6D-0413-C0BF-B8A7-DB2A39B803B9}"/>
              </a:ext>
            </a:extLst>
          </p:cNvPr>
          <p:cNvSpPr txBox="1"/>
          <p:nvPr/>
        </p:nvSpPr>
        <p:spPr>
          <a:xfrm>
            <a:off x="8089786" y="1143527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2028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C2EAD72-A64D-57C3-48FA-6819DD8D73A0}"/>
              </a:ext>
            </a:extLst>
          </p:cNvPr>
          <p:cNvSpPr/>
          <p:nvPr/>
        </p:nvSpPr>
        <p:spPr>
          <a:xfrm>
            <a:off x="6110589" y="1408783"/>
            <a:ext cx="216000" cy="216000"/>
          </a:xfrm>
          <a:prstGeom prst="ellipse">
            <a:avLst/>
          </a:prstGeom>
          <a:pattFill prst="dk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EDB40385-B7F9-7F6F-966F-74D0018B2A3C}"/>
              </a:ext>
            </a:extLst>
          </p:cNvPr>
          <p:cNvSpPr/>
          <p:nvPr/>
        </p:nvSpPr>
        <p:spPr>
          <a:xfrm>
            <a:off x="7188274" y="1408781"/>
            <a:ext cx="216000" cy="216000"/>
          </a:xfrm>
          <a:prstGeom prst="ellipse">
            <a:avLst/>
          </a:prstGeom>
          <a:pattFill prst="dk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05690B71-CF7E-A752-BA7E-EC01A846A8B6}"/>
              </a:ext>
            </a:extLst>
          </p:cNvPr>
          <p:cNvSpPr/>
          <p:nvPr/>
        </p:nvSpPr>
        <p:spPr>
          <a:xfrm>
            <a:off x="8276844" y="1408782"/>
            <a:ext cx="216000" cy="216000"/>
          </a:xfrm>
          <a:prstGeom prst="ellipse">
            <a:avLst/>
          </a:prstGeom>
          <a:pattFill prst="dk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81F473-ED02-E633-4A5E-6CE149023FE6}"/>
              </a:ext>
            </a:extLst>
          </p:cNvPr>
          <p:cNvSpPr txBox="1"/>
          <p:nvPr/>
        </p:nvSpPr>
        <p:spPr>
          <a:xfrm>
            <a:off x="9167474" y="1143527"/>
            <a:ext cx="589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2029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E90BB3BA-37CD-E001-CBA6-B5E33E56AAE9}"/>
              </a:ext>
            </a:extLst>
          </p:cNvPr>
          <p:cNvSpPr/>
          <p:nvPr/>
        </p:nvSpPr>
        <p:spPr>
          <a:xfrm>
            <a:off x="9354532" y="1408782"/>
            <a:ext cx="216000" cy="216000"/>
          </a:xfrm>
          <a:prstGeom prst="ellipse">
            <a:avLst/>
          </a:prstGeom>
          <a:pattFill prst="dk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87DDC5-9FE2-E6B9-A022-50A402100E04}"/>
              </a:ext>
            </a:extLst>
          </p:cNvPr>
          <p:cNvSpPr txBox="1"/>
          <p:nvPr/>
        </p:nvSpPr>
        <p:spPr>
          <a:xfrm>
            <a:off x="2226326" y="3315982"/>
            <a:ext cx="181234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b="1" dirty="0">
                <a:solidFill>
                  <a:srgbClr val="179177"/>
                </a:solidFill>
                <a:latin typeface="Century Gothic" panose="020B0502020202020204" pitchFamily="34" charset="0"/>
              </a:rPr>
              <a:t>Инвестиции в размере ХХХ млн рублей</a:t>
            </a:r>
          </a:p>
          <a:p>
            <a:pPr algn="r"/>
            <a:endParaRPr lang="ru-RU" sz="1000" b="1" dirty="0">
              <a:solidFill>
                <a:srgbClr val="179177"/>
              </a:solidFill>
              <a:latin typeface="Century Gothic" panose="020B0502020202020204" pitchFamily="34" charset="0"/>
            </a:endParaRPr>
          </a:p>
          <a:p>
            <a:pPr algn="r"/>
            <a:r>
              <a:rPr lang="ru-RU" sz="1000" dirty="0">
                <a:latin typeface="Century Gothic" panose="020B0502020202020204" pitchFamily="34" charset="0"/>
              </a:rPr>
              <a:t>ХХХ</a:t>
            </a:r>
          </a:p>
        </p:txBody>
      </p: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9DAE2EA4-DCB6-125F-EB17-D84B50075236}"/>
              </a:ext>
            </a:extLst>
          </p:cNvPr>
          <p:cNvCxnSpPr>
            <a:cxnSpLocks/>
            <a:stCxn id="19" idx="7"/>
          </p:cNvCxnSpPr>
          <p:nvPr/>
        </p:nvCxnSpPr>
        <p:spPr>
          <a:xfrm flipH="1">
            <a:off x="4030620" y="1432979"/>
            <a:ext cx="0" cy="2988000"/>
          </a:xfrm>
          <a:prstGeom prst="line">
            <a:avLst/>
          </a:prstGeom>
          <a:ln>
            <a:solidFill>
              <a:srgbClr val="179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45B6074-A450-42C9-C819-3FBA018A26C2}"/>
              </a:ext>
            </a:extLst>
          </p:cNvPr>
          <p:cNvSpPr txBox="1"/>
          <p:nvPr/>
        </p:nvSpPr>
        <p:spPr>
          <a:xfrm>
            <a:off x="3819204" y="1842630"/>
            <a:ext cx="128937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b="1" dirty="0">
                <a:latin typeface="Century Gothic" panose="020B0502020202020204" pitchFamily="34" charset="0"/>
              </a:rPr>
              <a:t>Начало ХХХ</a:t>
            </a:r>
            <a:endParaRPr lang="ru-RU" sz="1000" dirty="0">
              <a:latin typeface="Century Gothic" panose="020B0502020202020204" pitchFamily="34" charset="0"/>
            </a:endParaRPr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B236BDDA-DFAC-7173-E4A8-10C839982255}"/>
              </a:ext>
            </a:extLst>
          </p:cNvPr>
          <p:cNvSpPr/>
          <p:nvPr/>
        </p:nvSpPr>
        <p:spPr>
          <a:xfrm>
            <a:off x="5054145" y="1918829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A6A6C93C-AB5C-CC87-9176-42891D93EFE2}"/>
              </a:ext>
            </a:extLst>
          </p:cNvPr>
          <p:cNvSpPr/>
          <p:nvPr/>
        </p:nvSpPr>
        <p:spPr>
          <a:xfrm>
            <a:off x="3976460" y="3388400"/>
            <a:ext cx="108000" cy="108000"/>
          </a:xfrm>
          <a:prstGeom prst="ellipse">
            <a:avLst/>
          </a:prstGeom>
          <a:solidFill>
            <a:srgbClr val="148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5DBB10-7798-0F2F-D561-3A7286DF1A81}"/>
              </a:ext>
            </a:extLst>
          </p:cNvPr>
          <p:cNvSpPr txBox="1"/>
          <p:nvPr/>
        </p:nvSpPr>
        <p:spPr>
          <a:xfrm>
            <a:off x="4621420" y="3018290"/>
            <a:ext cx="158661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latin typeface="Century Gothic" panose="020B0502020202020204" pitchFamily="34" charset="0"/>
              </a:rPr>
              <a:t>Масштабирование ХХХ</a:t>
            </a:r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08895CCE-AE6B-37D6-C885-847919D9B636}"/>
              </a:ext>
            </a:extLst>
          </p:cNvPr>
          <p:cNvSpPr/>
          <p:nvPr/>
        </p:nvSpPr>
        <p:spPr>
          <a:xfrm>
            <a:off x="6153603" y="3094489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6FAF05-199F-40DA-6C4B-DB0512F4C601}"/>
              </a:ext>
            </a:extLst>
          </p:cNvPr>
          <p:cNvSpPr txBox="1"/>
          <p:nvPr/>
        </p:nvSpPr>
        <p:spPr>
          <a:xfrm>
            <a:off x="5707234" y="1832668"/>
            <a:ext cx="158661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highlight>
                  <a:srgbClr val="FFFF00"/>
                </a:highlight>
                <a:latin typeface="Century Gothic" panose="020B0502020202020204" pitchFamily="34" charset="0"/>
              </a:rPr>
              <a:t>ХХХ</a:t>
            </a:r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45B7AF87-FB92-B9CE-676B-84EFA2F8FE9A}"/>
              </a:ext>
            </a:extLst>
          </p:cNvPr>
          <p:cNvSpPr/>
          <p:nvPr/>
        </p:nvSpPr>
        <p:spPr>
          <a:xfrm>
            <a:off x="7239417" y="1908867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AECD29-0903-F693-F1E6-0E8F720F695A}"/>
              </a:ext>
            </a:extLst>
          </p:cNvPr>
          <p:cNvSpPr txBox="1"/>
          <p:nvPr/>
        </p:nvSpPr>
        <p:spPr>
          <a:xfrm>
            <a:off x="4619740" y="4005582"/>
            <a:ext cx="158661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latin typeface="Century Gothic" panose="020B0502020202020204" pitchFamily="34" charset="0"/>
              </a:rPr>
              <a:t>Доработка ХХХ</a:t>
            </a:r>
            <a:endParaRPr lang="ru-RU" sz="1000" dirty="0">
              <a:highlight>
                <a:srgbClr val="FFFF00"/>
              </a:highlight>
              <a:latin typeface="Century Gothic" panose="020B0502020202020204" pitchFamily="34" charset="0"/>
            </a:endParaRP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33B1B817-CFFB-B03C-18EB-52F6233B864A}"/>
              </a:ext>
            </a:extLst>
          </p:cNvPr>
          <p:cNvSpPr/>
          <p:nvPr/>
        </p:nvSpPr>
        <p:spPr>
          <a:xfrm>
            <a:off x="6162809" y="4081781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C3F249-CB19-AE80-3D12-4FE4393792F2}"/>
              </a:ext>
            </a:extLst>
          </p:cNvPr>
          <p:cNvSpPr txBox="1"/>
          <p:nvPr/>
        </p:nvSpPr>
        <p:spPr>
          <a:xfrm>
            <a:off x="6783784" y="3629375"/>
            <a:ext cx="158661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highlight>
                  <a:srgbClr val="FFFF00"/>
                </a:highlight>
                <a:latin typeface="Century Gothic" panose="020B0502020202020204" pitchFamily="34" charset="0"/>
              </a:rPr>
              <a:t>ХХХ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5DB0F891-8D10-EECB-0C3C-9D3C8A2EF6F2}"/>
              </a:ext>
            </a:extLst>
          </p:cNvPr>
          <p:cNvSpPr/>
          <p:nvPr/>
        </p:nvSpPr>
        <p:spPr>
          <a:xfrm>
            <a:off x="8315967" y="3705574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8E5296-71E4-2032-A2F4-8986B64BD264}"/>
              </a:ext>
            </a:extLst>
          </p:cNvPr>
          <p:cNvSpPr txBox="1"/>
          <p:nvPr/>
        </p:nvSpPr>
        <p:spPr>
          <a:xfrm>
            <a:off x="7861735" y="1837253"/>
            <a:ext cx="158661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highlight>
                  <a:srgbClr val="FFFF00"/>
                </a:highlight>
                <a:latin typeface="Century Gothic" panose="020B0502020202020204" pitchFamily="34" charset="0"/>
              </a:rPr>
              <a:t>ХХХ</a:t>
            </a:r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712831B8-8617-CB77-1896-523AC6330DDE}"/>
              </a:ext>
            </a:extLst>
          </p:cNvPr>
          <p:cNvSpPr/>
          <p:nvPr/>
        </p:nvSpPr>
        <p:spPr>
          <a:xfrm>
            <a:off x="9404804" y="1913452"/>
            <a:ext cx="108000" cy="108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E6F1F3A9-D534-1E08-8362-2599EFB46A6E}"/>
              </a:ext>
            </a:extLst>
          </p:cNvPr>
          <p:cNvCxnSpPr>
            <a:cxnSpLocks/>
          </p:cNvCxnSpPr>
          <p:nvPr/>
        </p:nvCxnSpPr>
        <p:spPr>
          <a:xfrm>
            <a:off x="1856514" y="1513056"/>
            <a:ext cx="0" cy="1728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B34AA54-3948-1DBB-9E5C-4BD865F36BE3}"/>
              </a:ext>
            </a:extLst>
          </p:cNvPr>
          <p:cNvSpPr txBox="1"/>
          <p:nvPr/>
        </p:nvSpPr>
        <p:spPr>
          <a:xfrm>
            <a:off x="555172" y="1836909"/>
            <a:ext cx="129664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latin typeface="Century Gothic" panose="020B0502020202020204" pitchFamily="34" charset="0"/>
              </a:rPr>
              <a:t>ХХХ</a:t>
            </a:r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129F816F-5BC5-60A1-D03D-4E3F30ECB0D3}"/>
              </a:ext>
            </a:extLst>
          </p:cNvPr>
          <p:cNvSpPr/>
          <p:nvPr/>
        </p:nvSpPr>
        <p:spPr>
          <a:xfrm>
            <a:off x="1804150" y="1918831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2285E41-303C-8952-4441-0AF859BDEEA9}"/>
              </a:ext>
            </a:extLst>
          </p:cNvPr>
          <p:cNvSpPr txBox="1"/>
          <p:nvPr/>
        </p:nvSpPr>
        <p:spPr>
          <a:xfrm>
            <a:off x="2036330" y="1842630"/>
            <a:ext cx="899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latin typeface="Century Gothic" panose="020B0502020202020204" pitchFamily="34" charset="0"/>
              </a:rPr>
              <a:t>ХХХ</a:t>
            </a:r>
          </a:p>
        </p:txBody>
      </p:sp>
      <p:cxnSp>
        <p:nvCxnSpPr>
          <p:cNvPr id="91" name="Прямая соединительная линия 90">
            <a:extLst>
              <a:ext uri="{FF2B5EF4-FFF2-40B4-BE49-F238E27FC236}">
                <a16:creationId xmlns:a16="http://schemas.microsoft.com/office/drawing/2014/main" id="{11E0DE07-5F05-8A0E-B7F8-D3DEEC8E47D5}"/>
              </a:ext>
            </a:extLst>
          </p:cNvPr>
          <p:cNvCxnSpPr>
            <a:cxnSpLocks/>
          </p:cNvCxnSpPr>
          <p:nvPr/>
        </p:nvCxnSpPr>
        <p:spPr>
          <a:xfrm>
            <a:off x="2947809" y="1513056"/>
            <a:ext cx="0" cy="684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Овал 91">
            <a:extLst>
              <a:ext uri="{FF2B5EF4-FFF2-40B4-BE49-F238E27FC236}">
                <a16:creationId xmlns:a16="http://schemas.microsoft.com/office/drawing/2014/main" id="{15605DAE-B085-F17F-66EE-0D5FF0B8AF5C}"/>
              </a:ext>
            </a:extLst>
          </p:cNvPr>
          <p:cNvSpPr/>
          <p:nvPr/>
        </p:nvSpPr>
        <p:spPr>
          <a:xfrm>
            <a:off x="2895176" y="1919839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Google Shape;138;p18">
            <a:extLst>
              <a:ext uri="{FF2B5EF4-FFF2-40B4-BE49-F238E27FC236}">
                <a16:creationId xmlns:a16="http://schemas.microsoft.com/office/drawing/2014/main" id="{56152118-ECEA-35E3-890F-FC9EAC525221}"/>
              </a:ext>
            </a:extLst>
          </p:cNvPr>
          <p:cNvSpPr txBox="1"/>
          <p:nvPr/>
        </p:nvSpPr>
        <p:spPr>
          <a:xfrm>
            <a:off x="742949" y="5010495"/>
            <a:ext cx="6550897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latin typeface="Century Gothic" panose="020B0502020202020204" pitchFamily="34" charset="0"/>
              </a:rPr>
              <a:t>Отобразите на слайде основные этапы развития вашего проекта, начиная с ретроспективы в 2-3 года и заканчивая долгосрочной целью.</a:t>
            </a: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endParaRPr lang="ru-RU" sz="1200" dirty="0">
              <a:latin typeface="Century Gothic" panose="020B0502020202020204" pitchFamily="34" charset="0"/>
            </a:endParaRP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latin typeface="Century Gothic" panose="020B0502020202020204" pitchFamily="34" charset="0"/>
              </a:rPr>
              <a:t>Укажите временные рамки для каждого этапа.</a:t>
            </a: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endParaRPr lang="ru-RU" sz="1200" dirty="0">
              <a:latin typeface="Century Gothic" panose="020B0502020202020204" pitchFamily="34" charset="0"/>
            </a:endParaRP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latin typeface="Century Gothic" panose="020B0502020202020204" pitchFamily="34" charset="0"/>
              </a:rPr>
              <a:t>Опишите, чего вы планируете достичь на каждом этапе, и какие конкретные задачи для этого необходимо выполнить.</a:t>
            </a: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endParaRPr lang="ru-RU" sz="1200" dirty="0">
              <a:latin typeface="Century Gothic" panose="020B0502020202020204" pitchFamily="34" charset="0"/>
            </a:endParaRPr>
          </a:p>
          <a:p>
            <a:pPr marL="171450" indent="-171450">
              <a:buClr>
                <a:srgbClr val="148B72"/>
              </a:buClr>
              <a:buFont typeface="Wingdings" panose="05000000000000000000" pitchFamily="2" charset="2"/>
              <a:buChar char="§"/>
            </a:pPr>
            <a:r>
              <a:rPr lang="ru-RU" sz="1200" dirty="0">
                <a:latin typeface="Century Gothic" panose="020B0502020202020204" pitchFamily="34" charset="0"/>
              </a:rPr>
              <a:t>Укажите ожидаемые результаты после завершения каждого этапа, включая финансовые показатели и рыночные позиции.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BAD068BD-5C03-470D-B615-A87C1BCBC9CB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54" name="object 3">
              <a:extLst>
                <a:ext uri="{FF2B5EF4-FFF2-40B4-BE49-F238E27FC236}">
                  <a16:creationId xmlns:a16="http://schemas.microsoft.com/office/drawing/2014/main" id="{AD688E73-AD92-4A40-951D-514C710CF4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56" name="object 4">
              <a:extLst>
                <a:ext uri="{FF2B5EF4-FFF2-40B4-BE49-F238E27FC236}">
                  <a16:creationId xmlns:a16="http://schemas.microsoft.com/office/drawing/2014/main" id="{6B89192B-5577-49BA-9517-A77A63980602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8A9FFA8-9C50-48E8-AE63-3999452C9633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7D162EE7-5027-48CD-91A3-0DF16ED4D6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5E125F97-CB9E-6C9E-AC58-169026B78B39}"/>
              </a:ext>
            </a:extLst>
          </p:cNvPr>
          <p:cNvSpPr/>
          <p:nvPr/>
        </p:nvSpPr>
        <p:spPr>
          <a:xfrm>
            <a:off x="5138355" y="4124972"/>
            <a:ext cx="4892634" cy="2078182"/>
          </a:xfrm>
          <a:custGeom>
            <a:avLst/>
            <a:gdLst>
              <a:gd name="connsiteX0" fmla="*/ 0 w 4892634"/>
              <a:gd name="connsiteY0" fmla="*/ 2078182 h 2078182"/>
              <a:gd name="connsiteX1" fmla="*/ 4892634 w 4892634"/>
              <a:gd name="connsiteY1" fmla="*/ 0 h 2078182"/>
              <a:gd name="connsiteX0" fmla="*/ 0 w 4892634"/>
              <a:gd name="connsiteY0" fmla="*/ 2078182 h 2078182"/>
              <a:gd name="connsiteX1" fmla="*/ 4892634 w 4892634"/>
              <a:gd name="connsiteY1" fmla="*/ 0 h 2078182"/>
              <a:gd name="connsiteX0" fmla="*/ 0 w 4892634"/>
              <a:gd name="connsiteY0" fmla="*/ 2078182 h 2078182"/>
              <a:gd name="connsiteX1" fmla="*/ 4892634 w 4892634"/>
              <a:gd name="connsiteY1" fmla="*/ 0 h 207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92634" h="2078182">
                <a:moveTo>
                  <a:pt x="0" y="2078182"/>
                </a:moveTo>
                <a:cubicBezTo>
                  <a:pt x="1975262" y="1611087"/>
                  <a:pt x="3273631" y="1191491"/>
                  <a:pt x="4892634" y="0"/>
                </a:cubicBezTo>
              </a:path>
            </a:pathLst>
          </a:custGeom>
          <a:noFill/>
          <a:ln>
            <a:solidFill>
              <a:srgbClr val="148B72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43F7"/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Финансы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96446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graphicFrame>
        <p:nvGraphicFramePr>
          <p:cNvPr id="6" name="Таблица 9">
            <a:extLst>
              <a:ext uri="{FF2B5EF4-FFF2-40B4-BE49-F238E27FC236}">
                <a16:creationId xmlns:a16="http://schemas.microsoft.com/office/drawing/2014/main" id="{E7F684B1-209E-1962-E026-301D313C8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643064"/>
              </p:ext>
            </p:extLst>
          </p:nvPr>
        </p:nvGraphicFramePr>
        <p:xfrm>
          <a:off x="655712" y="1823960"/>
          <a:ext cx="2808000" cy="41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30387524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89138711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в млн ₽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по итогам </a:t>
                      </a:r>
                      <a:endParaRPr lang="en-US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5 лет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185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dirty="0">
                          <a:latin typeface="Century Gothic" panose="020B0502020202020204" pitchFamily="34" charset="0"/>
                        </a:rPr>
                        <a:t>Выручка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24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/>
                      <a:r>
                        <a:rPr lang="en-US" sz="1000" dirty="0">
                          <a:latin typeface="Century Gothic" panose="020B0502020202020204" pitchFamily="34" charset="0"/>
                        </a:rPr>
                        <a:t>EBITDA</a:t>
                      </a:r>
                      <a:endParaRPr lang="ru-RU" sz="1000" dirty="0"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9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5715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dirty="0">
                          <a:latin typeface="Century Gothic" panose="020B0502020202020204" pitchFamily="34" charset="0"/>
                        </a:rPr>
                        <a:t>Чистая прибыль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0148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FCF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2231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WACC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1712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NPV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390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IRR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3803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ROI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622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PBP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8401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DPBP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9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7904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E74219-22CE-F4BA-4AE8-E7BB538A870C}"/>
              </a:ext>
            </a:extLst>
          </p:cNvPr>
          <p:cNvSpPr txBox="1"/>
          <p:nvPr/>
        </p:nvSpPr>
        <p:spPr>
          <a:xfrm>
            <a:off x="655712" y="1701020"/>
            <a:ext cx="4644000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Итоги проекта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CA1AC-26E8-BCB6-A872-79F7AC70DCA8}"/>
              </a:ext>
            </a:extLst>
          </p:cNvPr>
          <p:cNvSpPr txBox="1"/>
          <p:nvPr/>
        </p:nvSpPr>
        <p:spPr>
          <a:xfrm>
            <a:off x="4207132" y="1101872"/>
            <a:ext cx="4644000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Прогноз развития</a:t>
            </a:r>
          </a:p>
        </p:txBody>
      </p:sp>
      <p:graphicFrame>
        <p:nvGraphicFramePr>
          <p:cNvPr id="11" name="Таблица 9">
            <a:extLst>
              <a:ext uri="{FF2B5EF4-FFF2-40B4-BE49-F238E27FC236}">
                <a16:creationId xmlns:a16="http://schemas.microsoft.com/office/drawing/2014/main" id="{94CC8A13-5DBD-CDA6-7CF1-582DA6D60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25157"/>
              </p:ext>
            </p:extLst>
          </p:nvPr>
        </p:nvGraphicFramePr>
        <p:xfrm>
          <a:off x="3981449" y="1686348"/>
          <a:ext cx="6569821" cy="184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432">
                  <a:extLst>
                    <a:ext uri="{9D8B030D-6E8A-4147-A177-3AD203B41FA5}">
                      <a16:colId xmlns:a16="http://schemas.microsoft.com/office/drawing/2014/main" val="3303875243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1676249709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1174551993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4249514745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2891387112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639589155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2240170496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2873231926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3809904197"/>
                    </a:ext>
                  </a:extLst>
                </a:gridCol>
                <a:gridCol w="623821">
                  <a:extLst>
                    <a:ext uri="{9D8B030D-6E8A-4147-A177-3AD203B41FA5}">
                      <a16:colId xmlns:a16="http://schemas.microsoft.com/office/drawing/2014/main" val="289620866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в млн ₽ / годы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3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6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7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entury Gothic" panose="020B0502020202020204" pitchFamily="34" charset="0"/>
                        </a:rPr>
                        <a:t>∑</a:t>
                      </a:r>
                    </a:p>
                  </a:txBody>
                  <a:tcPr marL="45720" marR="45720" marT="0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18587"/>
                  </a:ext>
                </a:extLst>
              </a:tr>
              <a:tr h="292071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dirty="0">
                          <a:latin typeface="Century Gothic" panose="020B0502020202020204" pitchFamily="34" charset="0"/>
                        </a:rPr>
                        <a:t>Выручка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2490"/>
                  </a:ext>
                </a:extLst>
              </a:tr>
              <a:tr h="292071">
                <a:tc>
                  <a:txBody>
                    <a:bodyPr/>
                    <a:lstStyle/>
                    <a:p>
                      <a:pPr marL="84138" indent="0" algn="l"/>
                      <a:r>
                        <a:rPr lang="en-US" sz="1000" dirty="0">
                          <a:latin typeface="Century Gothic" panose="020B0502020202020204" pitchFamily="34" charset="0"/>
                        </a:rPr>
                        <a:t>EBITDA</a:t>
                      </a:r>
                      <a:endParaRPr lang="ru-RU" sz="1000" dirty="0"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71567"/>
                  </a:ext>
                </a:extLst>
              </a:tr>
              <a:tr h="292071">
                <a:tc>
                  <a:txBody>
                    <a:bodyPr/>
                    <a:lstStyle/>
                    <a:p>
                      <a:pPr marL="84138" indent="0" algn="ctr"/>
                      <a:r>
                        <a:rPr lang="ru-RU" sz="1000" i="1" dirty="0">
                          <a:solidFill>
                            <a:schemeClr val="accent2"/>
                          </a:solidFill>
                          <a:latin typeface="Century Gothic" panose="020B0502020202020204" pitchFamily="34" charset="0"/>
                        </a:rPr>
                        <a:t>рент. E</a:t>
                      </a:r>
                      <a:r>
                        <a:rPr lang="en-US" sz="1000" i="1" dirty="0">
                          <a:solidFill>
                            <a:schemeClr val="accent2"/>
                          </a:solidFill>
                          <a:latin typeface="Century Gothic" panose="020B0502020202020204" pitchFamily="34" charset="0"/>
                        </a:rPr>
                        <a:t>BITDA</a:t>
                      </a:r>
                      <a:endParaRPr lang="ru-RU" sz="1000" i="1" dirty="0">
                        <a:solidFill>
                          <a:schemeClr val="accent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543054"/>
                  </a:ext>
                </a:extLst>
              </a:tr>
              <a:tr h="292071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dirty="0">
                          <a:latin typeface="Century Gothic" panose="020B0502020202020204" pitchFamily="34" charset="0"/>
                        </a:rPr>
                        <a:t>Чистая прибыль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014843"/>
                  </a:ext>
                </a:extLst>
              </a:tr>
              <a:tr h="292071">
                <a:tc>
                  <a:txBody>
                    <a:bodyPr/>
                    <a:lstStyle/>
                    <a:p>
                      <a:pPr marL="84138" indent="0" algn="ctr"/>
                      <a:r>
                        <a:rPr lang="ru-RU" sz="1000" i="1" dirty="0">
                          <a:solidFill>
                            <a:srgbClr val="148B72"/>
                          </a:solidFill>
                          <a:latin typeface="Century Gothic" panose="020B0502020202020204" pitchFamily="34" charset="0"/>
                        </a:rPr>
                        <a:t>рент. ЧП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1" u="none" strike="noStrike" dirty="0">
                        <a:solidFill>
                          <a:srgbClr val="148B72"/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141610"/>
                  </a:ext>
                </a:extLst>
              </a:tr>
            </a:tbl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816CF284-47F5-8DCB-0DE6-CC9B27B738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0173891"/>
              </p:ext>
            </p:extLst>
          </p:nvPr>
        </p:nvGraphicFramePr>
        <p:xfrm>
          <a:off x="5338821" y="3491094"/>
          <a:ext cx="4500000" cy="3512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Google Shape;138;p18">
            <a:extLst>
              <a:ext uri="{FF2B5EF4-FFF2-40B4-BE49-F238E27FC236}">
                <a16:creationId xmlns:a16="http://schemas.microsoft.com/office/drawing/2014/main" id="{6FCCBE01-E08C-075E-C860-CF63163E9203}"/>
              </a:ext>
            </a:extLst>
          </p:cNvPr>
          <p:cNvSpPr txBox="1"/>
          <p:nvPr/>
        </p:nvSpPr>
        <p:spPr>
          <a:xfrm>
            <a:off x="9447400" y="3758072"/>
            <a:ext cx="192402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00" dirty="0">
                <a:solidFill>
                  <a:srgbClr val="148B72"/>
                </a:solidFill>
                <a:latin typeface="Century Gothic" panose="020B0502020202020204" pitchFamily="34" charset="0"/>
              </a:rPr>
              <a:t>CAGR </a:t>
            </a:r>
            <a:r>
              <a:rPr lang="ru-RU" sz="1000" baseline="-25000" dirty="0">
                <a:solidFill>
                  <a:srgbClr val="148B72"/>
                </a:solidFill>
                <a:latin typeface="Century Gothic" panose="020B0502020202020204" pitchFamily="34" charset="0"/>
              </a:rPr>
              <a:t>по выручке </a:t>
            </a:r>
            <a:r>
              <a:rPr lang="ru-RU" sz="1000" dirty="0">
                <a:solidFill>
                  <a:srgbClr val="148B72"/>
                </a:solidFill>
                <a:latin typeface="Century Gothic" panose="020B0502020202020204" pitchFamily="34" charset="0"/>
              </a:rPr>
              <a:t>= 75%</a:t>
            </a:r>
          </a:p>
        </p:txBody>
      </p:sp>
      <p:sp>
        <p:nvSpPr>
          <p:cNvPr id="23" name="Google Shape;138;p18">
            <a:extLst>
              <a:ext uri="{FF2B5EF4-FFF2-40B4-BE49-F238E27FC236}">
                <a16:creationId xmlns:a16="http://schemas.microsoft.com/office/drawing/2014/main" id="{49F9AC04-3BF1-4648-060D-0B162AD029A0}"/>
              </a:ext>
            </a:extLst>
          </p:cNvPr>
          <p:cNvSpPr txBox="1"/>
          <p:nvPr/>
        </p:nvSpPr>
        <p:spPr>
          <a:xfrm>
            <a:off x="4707166" y="3864578"/>
            <a:ext cx="19240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1000" dirty="0">
                <a:solidFill>
                  <a:srgbClr val="148B72"/>
                </a:solidFill>
                <a:latin typeface="Century Gothic" panose="020B0502020202020204" pitchFamily="34" charset="0"/>
              </a:rPr>
              <a:t>Средняя рентабельность по Чистой прибыли = 24%</a:t>
            </a:r>
          </a:p>
        </p:txBody>
      </p:sp>
      <p:sp>
        <p:nvSpPr>
          <p:cNvPr id="24" name="Google Shape;138;p18">
            <a:extLst>
              <a:ext uri="{FF2B5EF4-FFF2-40B4-BE49-F238E27FC236}">
                <a16:creationId xmlns:a16="http://schemas.microsoft.com/office/drawing/2014/main" id="{77860869-2CCF-9295-0E99-76FDC393D629}"/>
              </a:ext>
            </a:extLst>
          </p:cNvPr>
          <p:cNvSpPr txBox="1"/>
          <p:nvPr/>
        </p:nvSpPr>
        <p:spPr>
          <a:xfrm>
            <a:off x="4707166" y="4432749"/>
            <a:ext cx="19240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1000" dirty="0">
                <a:solidFill>
                  <a:schemeClr val="accent2"/>
                </a:solidFill>
                <a:latin typeface="Century Gothic" panose="020B0502020202020204" pitchFamily="34" charset="0"/>
              </a:rPr>
              <a:t>Средняя рентабельность по E</a:t>
            </a:r>
            <a:r>
              <a:rPr lang="en-US" sz="1000" dirty="0">
                <a:solidFill>
                  <a:schemeClr val="accent2"/>
                </a:solidFill>
                <a:latin typeface="Century Gothic" panose="020B0502020202020204" pitchFamily="34" charset="0"/>
              </a:rPr>
              <a:t>BITDA</a:t>
            </a:r>
            <a:r>
              <a:rPr lang="ru-RU" sz="1000" dirty="0">
                <a:solidFill>
                  <a:schemeClr val="accent2"/>
                </a:solidFill>
                <a:latin typeface="Century Gothic" panose="020B0502020202020204" pitchFamily="34" charset="0"/>
              </a:rPr>
              <a:t>= </a:t>
            </a:r>
            <a:r>
              <a:rPr lang="en-US" sz="1000" dirty="0">
                <a:solidFill>
                  <a:schemeClr val="accent2"/>
                </a:solidFill>
                <a:latin typeface="Century Gothic" panose="020B0502020202020204" pitchFamily="34" charset="0"/>
              </a:rPr>
              <a:t>54</a:t>
            </a:r>
            <a:r>
              <a:rPr lang="ru-RU" sz="1000" dirty="0">
                <a:solidFill>
                  <a:schemeClr val="accent2"/>
                </a:solidFill>
                <a:latin typeface="Century Gothic" panose="020B0502020202020204" pitchFamily="34" charset="0"/>
              </a:rPr>
              <a:t>%</a:t>
            </a:r>
          </a:p>
        </p:txBody>
      </p:sp>
      <p:sp>
        <p:nvSpPr>
          <p:cNvPr id="18" name="Google Shape;138;p18">
            <a:extLst>
              <a:ext uri="{FF2B5EF4-FFF2-40B4-BE49-F238E27FC236}">
                <a16:creationId xmlns:a16="http://schemas.microsoft.com/office/drawing/2014/main" id="{56152118-ECEA-35E3-890F-FC9EAC525221}"/>
              </a:ext>
            </a:extLst>
          </p:cNvPr>
          <p:cNvSpPr txBox="1"/>
          <p:nvPr/>
        </p:nvSpPr>
        <p:spPr>
          <a:xfrm>
            <a:off x="655712" y="6115291"/>
            <a:ext cx="421156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Вставьте обобщенные данные финансовой модели по ключевым направлениям. Слайд оформляется на основании данных из финансовой модели проекта и может содержать активную ссылку на этот документ для более подробного ознакомления представителя инвестора. </a:t>
            </a:r>
          </a:p>
          <a:p>
            <a:r>
              <a:rPr lang="ru-RU" sz="1200" dirty="0"/>
              <a:t/>
            </a:r>
            <a:br>
              <a:rPr lang="ru-RU" sz="1200" dirty="0"/>
            </a:br>
            <a:endParaRPr lang="ru-RU" sz="1200" dirty="0">
              <a:latin typeface="Century Gothic" panose="020B0502020202020204" pitchFamily="34" charset="0"/>
            </a:endParaRPr>
          </a:p>
        </p:txBody>
      </p:sp>
      <p:sp>
        <p:nvSpPr>
          <p:cNvPr id="20" name="Открывающая квадратная скобка 19">
            <a:extLst>
              <a:ext uri="{FF2B5EF4-FFF2-40B4-BE49-F238E27FC236}">
                <a16:creationId xmlns:a16="http://schemas.microsoft.com/office/drawing/2014/main" id="{EDDBBB4D-2891-B594-83B7-1F6440ADBF8B}"/>
              </a:ext>
            </a:extLst>
          </p:cNvPr>
          <p:cNvSpPr/>
          <p:nvPr/>
        </p:nvSpPr>
        <p:spPr>
          <a:xfrm rot="5400000">
            <a:off x="5682820" y="869416"/>
            <a:ext cx="403700" cy="1641859"/>
          </a:xfrm>
          <a:prstGeom prst="leftBracke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100943" y="1504397"/>
            <a:ext cx="15674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9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ретроспектива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55712" y="1098844"/>
            <a:ext cx="30716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b="1" dirty="0">
                <a:latin typeface="Century Gothic" panose="020B0502020202020204" pitchFamily="34" charset="0"/>
              </a:rPr>
              <a:t>Сумма инвестиций:</a:t>
            </a:r>
            <a:r>
              <a:rPr lang="ru-RU" sz="1200" dirty="0"/>
              <a:t> </a:t>
            </a:r>
            <a:r>
              <a:rPr lang="ru-RU" sz="2000" b="1" dirty="0">
                <a:solidFill>
                  <a:srgbClr val="148B72"/>
                </a:solidFill>
                <a:latin typeface="Century Gothic" panose="020B0502020202020204" pitchFamily="34" charset="0"/>
              </a:rPr>
              <a:t>21,7 млн ₽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35518C96-E997-476E-9FBB-86BB3786EF93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25" name="object 3">
              <a:extLst>
                <a:ext uri="{FF2B5EF4-FFF2-40B4-BE49-F238E27FC236}">
                  <a16:creationId xmlns:a16="http://schemas.microsoft.com/office/drawing/2014/main" id="{5C015603-3ECB-485E-92A8-61A447E898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26" name="object 4">
              <a:extLst>
                <a:ext uri="{FF2B5EF4-FFF2-40B4-BE49-F238E27FC236}">
                  <a16:creationId xmlns:a16="http://schemas.microsoft.com/office/drawing/2014/main" id="{BFCCD362-B7BF-4462-8B58-FC15D4453A88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8E2D772-A1F8-4BC6-8334-FF21E08C957C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2EA84DD-C014-4E4A-B140-6B171A9696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Для инвестора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286055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FAA02-7C8A-1B9D-0DD1-D5950CD4E232}"/>
              </a:ext>
            </a:extLst>
          </p:cNvPr>
          <p:cNvSpPr txBox="1"/>
          <p:nvPr/>
        </p:nvSpPr>
        <p:spPr>
          <a:xfrm>
            <a:off x="685553" y="1119804"/>
            <a:ext cx="4644000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Доходы инвестора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B84535-534B-70E3-6669-EEAB364F62A4}"/>
              </a:ext>
            </a:extLst>
          </p:cNvPr>
          <p:cNvSpPr txBox="1"/>
          <p:nvPr/>
        </p:nvSpPr>
        <p:spPr>
          <a:xfrm>
            <a:off x="685553" y="3743745"/>
            <a:ext cx="4644000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Century Gothic" panose="020B0502020202020204" pitchFamily="34" charset="0"/>
              </a:rPr>
              <a:t>Итоги для инвестора</a:t>
            </a:r>
          </a:p>
        </p:txBody>
      </p:sp>
      <p:graphicFrame>
        <p:nvGraphicFramePr>
          <p:cNvPr id="16" name="Таблица 9">
            <a:extLst>
              <a:ext uri="{FF2B5EF4-FFF2-40B4-BE49-F238E27FC236}">
                <a16:creationId xmlns:a16="http://schemas.microsoft.com/office/drawing/2014/main" id="{ECF6FA36-01A1-8D71-C863-0FD0387BE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275175"/>
              </p:ext>
            </p:extLst>
          </p:nvPr>
        </p:nvGraphicFramePr>
        <p:xfrm>
          <a:off x="765252" y="4185149"/>
          <a:ext cx="4078123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154">
                  <a:extLst>
                    <a:ext uri="{9D8B030D-6E8A-4147-A177-3AD203B41FA5}">
                      <a16:colId xmlns:a16="http://schemas.microsoft.com/office/drawing/2014/main" val="3303875243"/>
                    </a:ext>
                  </a:extLst>
                </a:gridCol>
                <a:gridCol w="1461969">
                  <a:extLst>
                    <a:ext uri="{9D8B030D-6E8A-4147-A177-3AD203B41FA5}">
                      <a16:colId xmlns:a16="http://schemas.microsoft.com/office/drawing/2014/main" val="289138711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ru-RU" sz="9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в млн ₽</a:t>
                      </a:r>
                    </a:p>
                  </a:txBody>
                  <a:tcPr marL="45720" marR="4572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185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b="0" dirty="0">
                          <a:latin typeface="Century Gothic" panose="020B0502020202020204" pitchFamily="34" charset="0"/>
                        </a:rPr>
                        <a:t>Доля инвестора в ООО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6450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b="0" dirty="0">
                          <a:latin typeface="Century Gothic" panose="020B0502020202020204" pitchFamily="34" charset="0"/>
                        </a:rPr>
                        <a:t>Сумма инвестиций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0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1898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84138" indent="0" algn="l"/>
                      <a:r>
                        <a:rPr lang="ru-RU" sz="1000" b="1" dirty="0">
                          <a:latin typeface="Century Gothic" panose="020B0502020202020204" pitchFamily="34" charset="0"/>
                        </a:rPr>
                        <a:t>Сумма дохода  инвестора</a:t>
                      </a: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7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0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01879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IRR инвестора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bg2">
                            <a:lumMod val="2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3803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84138" indent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ROI инвестора</a:t>
                      </a: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b="0" dirty="0">
                        <a:solidFill>
                          <a:schemeClr val="bg2">
                            <a:lumMod val="25000"/>
                          </a:schemeClr>
                        </a:solidFill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marL="45720" marR="45720" marT="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62236"/>
                  </a:ext>
                </a:extLst>
              </a:tr>
            </a:tbl>
          </a:graphicData>
        </a:graphic>
      </p:graphicFrame>
      <p:graphicFrame>
        <p:nvGraphicFramePr>
          <p:cNvPr id="17" name="Chart 5">
            <a:extLst>
              <a:ext uri="{FF2B5EF4-FFF2-40B4-BE49-F238E27FC236}">
                <a16:creationId xmlns:a16="http://schemas.microsoft.com/office/drawing/2014/main" id="{0EF957AC-6B10-6DE2-30CF-217C93310C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4780380"/>
              </p:ext>
            </p:extLst>
          </p:nvPr>
        </p:nvGraphicFramePr>
        <p:xfrm>
          <a:off x="6222381" y="4012803"/>
          <a:ext cx="4986540" cy="2460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B834DFA9-9BF2-9A2C-2179-63089B914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005661"/>
              </p:ext>
            </p:extLst>
          </p:nvPr>
        </p:nvGraphicFramePr>
        <p:xfrm>
          <a:off x="772842" y="1602577"/>
          <a:ext cx="9944370" cy="1827758"/>
        </p:xfrm>
        <a:graphic>
          <a:graphicData uri="http://schemas.openxmlformats.org/drawingml/2006/table">
            <a:tbl>
              <a:tblPr firstRow="1" bandRow="1"/>
              <a:tblGrid>
                <a:gridCol w="2810364">
                  <a:extLst>
                    <a:ext uri="{9D8B030D-6E8A-4147-A177-3AD203B41FA5}">
                      <a16:colId xmlns:a16="http://schemas.microsoft.com/office/drawing/2014/main" val="536629278"/>
                    </a:ext>
                  </a:extLst>
                </a:gridCol>
                <a:gridCol w="1189001">
                  <a:extLst>
                    <a:ext uri="{9D8B030D-6E8A-4147-A177-3AD203B41FA5}">
                      <a16:colId xmlns:a16="http://schemas.microsoft.com/office/drawing/2014/main" val="996453843"/>
                    </a:ext>
                  </a:extLst>
                </a:gridCol>
                <a:gridCol w="1189001">
                  <a:extLst>
                    <a:ext uri="{9D8B030D-6E8A-4147-A177-3AD203B41FA5}">
                      <a16:colId xmlns:a16="http://schemas.microsoft.com/office/drawing/2014/main" val="4162443500"/>
                    </a:ext>
                  </a:extLst>
                </a:gridCol>
                <a:gridCol w="1189001">
                  <a:extLst>
                    <a:ext uri="{9D8B030D-6E8A-4147-A177-3AD203B41FA5}">
                      <a16:colId xmlns:a16="http://schemas.microsoft.com/office/drawing/2014/main" val="3776444404"/>
                    </a:ext>
                  </a:extLst>
                </a:gridCol>
                <a:gridCol w="1189001">
                  <a:extLst>
                    <a:ext uri="{9D8B030D-6E8A-4147-A177-3AD203B41FA5}">
                      <a16:colId xmlns:a16="http://schemas.microsoft.com/office/drawing/2014/main" val="1699176512"/>
                    </a:ext>
                  </a:extLst>
                </a:gridCol>
                <a:gridCol w="1189001">
                  <a:extLst>
                    <a:ext uri="{9D8B030D-6E8A-4147-A177-3AD203B41FA5}">
                      <a16:colId xmlns:a16="http://schemas.microsoft.com/office/drawing/2014/main" val="2789054458"/>
                    </a:ext>
                  </a:extLst>
                </a:gridCol>
                <a:gridCol w="1189001">
                  <a:extLst>
                    <a:ext uri="{9D8B030D-6E8A-4147-A177-3AD203B41FA5}">
                      <a16:colId xmlns:a16="http://schemas.microsoft.com/office/drawing/2014/main" val="91735275"/>
                    </a:ext>
                  </a:extLst>
                </a:gridCol>
              </a:tblGrid>
              <a:tr h="38775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в млн ₽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1-й год</a:t>
                      </a:r>
                    </a:p>
                  </a:txBody>
                  <a:tcPr marL="4763" marR="4763" marT="4763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0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900" b="1" i="0" u="none" strike="noStrike" dirty="0">
                          <a:solidFill>
                            <a:srgbClr val="BFBFBF"/>
                          </a:solidFill>
                          <a:effectLst/>
                          <a:latin typeface="Century Gothic" panose="020B0502020202020204" pitchFamily="34" charset="0"/>
                        </a:rPr>
                        <a:t>∑</a:t>
                      </a:r>
                    </a:p>
                  </a:txBody>
                  <a:tcPr marL="4763" marR="4763" marT="4763" marB="0"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9332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Чистая прибыль проекта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1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3005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Инвестиции в проект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fontAlgn="b" latinLnBrk="0" hangingPunct="1"/>
                      <a:endParaRPr lang="ru-RU" sz="900" b="0" i="0" u="none" strike="noStrike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fontAlgn="b" latinLnBrk="0" hangingPunct="1"/>
                      <a:endParaRPr lang="ru-RU" sz="900" b="0" i="0" u="none" strike="noStrike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fontAlgn="b" latinLnBrk="0" hangingPunct="1"/>
                      <a:endParaRPr lang="ru-RU" sz="900" b="0" i="0" u="none" strike="noStrike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fontAlgn="b" latinLnBrk="0" hangingPunct="1"/>
                      <a:endParaRPr lang="ru-RU" sz="900" b="0" i="0" u="none" strike="noStrike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fontAlgn="b" latinLnBrk="0" hangingPunct="1"/>
                      <a:endParaRPr lang="ru-RU" sz="900" b="0" i="0" u="none" strike="noStrike" kern="12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2674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Получение дивидендов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900" b="1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5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1277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Продажа доли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ru-RU" sz="9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ru-RU" sz="900" b="1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5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038228"/>
                  </a:ext>
                </a:extLst>
              </a:tr>
            </a:tbl>
          </a:graphicData>
        </a:graphic>
      </p:graphicFrame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A1B1612-D22B-95E2-6980-AAC935B6DD03}"/>
              </a:ext>
            </a:extLst>
          </p:cNvPr>
          <p:cNvCxnSpPr/>
          <p:nvPr/>
        </p:nvCxnSpPr>
        <p:spPr>
          <a:xfrm flipV="1">
            <a:off x="4954980" y="5242926"/>
            <a:ext cx="1591886" cy="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ткрывающая квадратная скобка 19">
            <a:extLst>
              <a:ext uri="{FF2B5EF4-FFF2-40B4-BE49-F238E27FC236}">
                <a16:creationId xmlns:a16="http://schemas.microsoft.com/office/drawing/2014/main" id="{EDDBBB4D-2891-B594-83B7-1F6440ADBF8B}"/>
              </a:ext>
            </a:extLst>
          </p:cNvPr>
          <p:cNvSpPr/>
          <p:nvPr/>
        </p:nvSpPr>
        <p:spPr>
          <a:xfrm>
            <a:off x="6546866" y="4012802"/>
            <a:ext cx="323386" cy="2460249"/>
          </a:xfrm>
          <a:prstGeom prst="leftBracke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136532" y="5944483"/>
            <a:ext cx="1085849" cy="369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9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по итогам 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9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5 лет</a:t>
            </a:r>
          </a:p>
        </p:txBody>
      </p:sp>
      <p:sp>
        <p:nvSpPr>
          <p:cNvPr id="10" name="Правая фигурная скобка 9"/>
          <p:cNvSpPr/>
          <p:nvPr/>
        </p:nvSpPr>
        <p:spPr>
          <a:xfrm>
            <a:off x="4843375" y="5481149"/>
            <a:ext cx="389668" cy="1296000"/>
          </a:xfrm>
          <a:prstGeom prst="rightBrace">
            <a:avLst/>
          </a:prstGeom>
          <a:ln w="3175">
            <a:solidFill>
              <a:srgbClr val="A2A1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9E00BC6-9BE8-4AC3-84AE-12EBA85D39E3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22" name="object 3">
              <a:extLst>
                <a:ext uri="{FF2B5EF4-FFF2-40B4-BE49-F238E27FC236}">
                  <a16:creationId xmlns:a16="http://schemas.microsoft.com/office/drawing/2014/main" id="{6481C1D1-D9FF-4E36-9CD0-246ED9A9D7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23" name="object 4">
              <a:extLst>
                <a:ext uri="{FF2B5EF4-FFF2-40B4-BE49-F238E27FC236}">
                  <a16:creationId xmlns:a16="http://schemas.microsoft.com/office/drawing/2014/main" id="{CB29B1DE-8C7B-48C0-AEAD-27B907AC3BD4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E84D41F-6DF6-446C-8C79-9A69E08BCE1E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CDF72BB-30EF-4B9E-8591-694E58F839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1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104" y="372713"/>
            <a:ext cx="5779882" cy="1357494"/>
          </a:xfrm>
          <a:prstGeom prst="rect">
            <a:avLst/>
          </a:prstGeom>
        </p:spPr>
        <p:txBody>
          <a:bodyPr vert="horz" wrap="square" lIns="0" tIns="11425" rIns="0" bIns="0" rtlCol="0" anchor="ctr">
            <a:spAutoFit/>
          </a:bodyPr>
          <a:lstStyle/>
          <a:p>
            <a:pPr marL="12695">
              <a:lnSpc>
                <a:spcPts val="3534"/>
              </a:lnSpc>
              <a:spcBef>
                <a:spcPts val="90"/>
              </a:spcBef>
            </a:pPr>
            <a:r>
              <a:rPr lang="ru-RU" sz="2943" spc="-5" dirty="0">
                <a:solidFill>
                  <a:schemeClr val="tx1"/>
                </a:solidFill>
                <a:latin typeface="Century Gothic" panose="020B0502020202020204" pitchFamily="34" charset="0"/>
                <a:cs typeface="+mj-cs"/>
              </a:rPr>
              <a:t>Стратегия правовой охраны продукта</a:t>
            </a:r>
            <a:endParaRPr sz="2943" spc="-5" dirty="0">
              <a:solidFill>
                <a:schemeClr val="tx1"/>
              </a:solidFill>
              <a:latin typeface="Century Gothic" panose="020B0502020202020204" pitchFamily="34" charset="0"/>
              <a:cs typeface="+mj-cs"/>
            </a:endParaRPr>
          </a:p>
          <a:p>
            <a:pPr marL="12695">
              <a:lnSpc>
                <a:spcPts val="3534"/>
              </a:lnSpc>
            </a:pPr>
            <a:endParaRPr spc="25" dirty="0">
              <a:solidFill>
                <a:srgbClr val="148B72"/>
              </a:solidFill>
            </a:endParaRPr>
          </a:p>
        </p:txBody>
      </p:sp>
      <p:sp>
        <p:nvSpPr>
          <p:cNvPr id="36" name="object 5">
            <a:extLst>
              <a:ext uri="{FF2B5EF4-FFF2-40B4-BE49-F238E27FC236}">
                <a16:creationId xmlns:a16="http://schemas.microsoft.com/office/drawing/2014/main" id="{B6F27F6B-DDE8-4FC0-9256-8EA08E81EB21}"/>
              </a:ext>
            </a:extLst>
          </p:cNvPr>
          <p:cNvSpPr txBox="1"/>
          <p:nvPr/>
        </p:nvSpPr>
        <p:spPr>
          <a:xfrm>
            <a:off x="621594" y="1616006"/>
            <a:ext cx="3588456" cy="197485"/>
          </a:xfrm>
          <a:prstGeom prst="rect">
            <a:avLst/>
          </a:prstGeom>
        </p:spPr>
        <p:txBody>
          <a:bodyPr vert="horz" wrap="square" lIns="0" tIns="12695" rIns="0" bIns="0" rtlCol="0">
            <a:spAutoFit/>
          </a:bodyPr>
          <a:lstStyle/>
          <a:p>
            <a:pPr marL="12695" marR="5078">
              <a:spcBef>
                <a:spcPts val="100"/>
              </a:spcBef>
            </a:pPr>
            <a:r>
              <a:rPr lang="ru-RU" sz="1200" b="1" dirty="0">
                <a:latin typeface="Century Gothic" panose="020B0502020202020204" pitchFamily="34" charset="0"/>
              </a:rPr>
              <a:t>Цели стратегии правовой охраны продукта</a:t>
            </a:r>
            <a:endParaRPr sz="1200" b="1" dirty="0">
              <a:latin typeface="Century Gothic" panose="020B0502020202020204" pitchFamily="34" charset="0"/>
            </a:endParaRPr>
          </a:p>
        </p:txBody>
      </p:sp>
      <p:sp>
        <p:nvSpPr>
          <p:cNvPr id="39" name="Полилиния 38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40" name="Прямоугольник: скругленные углы 26">
            <a:extLst>
              <a:ext uri="{FF2B5EF4-FFF2-40B4-BE49-F238E27FC236}">
                <a16:creationId xmlns:a16="http://schemas.microsoft.com/office/drawing/2014/main" id="{92AA264B-0913-490B-A33F-58D22319C1A5}"/>
              </a:ext>
            </a:extLst>
          </p:cNvPr>
          <p:cNvSpPr/>
          <p:nvPr/>
        </p:nvSpPr>
        <p:spPr>
          <a:xfrm>
            <a:off x="531266" y="1522199"/>
            <a:ext cx="4883150" cy="875741"/>
          </a:xfrm>
          <a:prstGeom prst="roundRect">
            <a:avLst>
              <a:gd name="adj" fmla="val 7005"/>
            </a:avLst>
          </a:prstGeom>
          <a:noFill/>
          <a:ln w="9525">
            <a:solidFill>
              <a:srgbClr val="148B7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29">
              <a:latin typeface="Century Gothic" panose="020B0502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743" y="1907298"/>
            <a:ext cx="3931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latin typeface="Century Gothic" panose="020B0502020202020204" pitchFamily="34" charset="0"/>
              </a:rPr>
              <a:t>Подробно опишите основные цели и принципы стратегии правовой охраны вашего продукта. 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531266" y="2600398"/>
            <a:ext cx="4883150" cy="947028"/>
            <a:chOff x="531266" y="2600398"/>
            <a:chExt cx="4883150" cy="947028"/>
          </a:xfrm>
        </p:grpSpPr>
        <p:sp>
          <p:nvSpPr>
            <p:cNvPr id="5" name="object 5"/>
            <p:cNvSpPr txBox="1"/>
            <p:nvPr/>
          </p:nvSpPr>
          <p:spPr>
            <a:xfrm>
              <a:off x="613424" y="2704155"/>
              <a:ext cx="4439632" cy="382151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marR="5078">
                <a:spcBef>
                  <a:spcPts val="100"/>
                </a:spcBef>
              </a:pPr>
              <a:r>
                <a:rPr lang="ru-RU" sz="1200" b="1" dirty="0">
                  <a:latin typeface="Century Gothic" panose="020B0502020202020204" pitchFamily="34" charset="0"/>
                </a:rPr>
                <a:t>Заимствования: объекты, правообладатели, основания использования</a:t>
              </a:r>
              <a:endParaRPr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41" name="Прямоугольник: скругленные углы 26">
              <a:extLst>
                <a:ext uri="{FF2B5EF4-FFF2-40B4-BE49-F238E27FC236}">
                  <a16:creationId xmlns:a16="http://schemas.microsoft.com/office/drawing/2014/main" id="{92AA264B-0913-490B-A33F-58D22319C1A5}"/>
                </a:ext>
              </a:extLst>
            </p:cNvPr>
            <p:cNvSpPr/>
            <p:nvPr/>
          </p:nvSpPr>
          <p:spPr>
            <a:xfrm>
              <a:off x="531266" y="2600398"/>
              <a:ext cx="4883150" cy="947028"/>
            </a:xfrm>
            <a:prstGeom prst="roundRect">
              <a:avLst>
                <a:gd name="adj" fmla="val 7005"/>
              </a:avLst>
            </a:prstGeom>
            <a:noFill/>
            <a:ln w="9525">
              <a:solidFill>
                <a:srgbClr val="148B7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29">
                <a:latin typeface="Century Gothic" panose="020B0502020202020204" pitchFamily="34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531267" y="3092365"/>
              <a:ext cx="4726534" cy="430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marR="5080">
                <a:lnSpc>
                  <a:spcPct val="114999"/>
                </a:lnSpc>
                <a:spcBef>
                  <a:spcPts val="100"/>
                </a:spcBef>
              </a:pPr>
              <a:r>
                <a:rPr lang="ru-RU" sz="1000" dirty="0">
                  <a:latin typeface="Century Gothic" panose="020B0502020202020204" pitchFamily="34" charset="0"/>
                </a:rPr>
                <a:t>Укажите, какие узлы, устройства, технологии и материалы вы собираетесь охранять дополнительно.</a:t>
              </a:r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5703375" y="1522199"/>
            <a:ext cx="4883150" cy="1108223"/>
            <a:chOff x="5828878" y="2955041"/>
            <a:chExt cx="4883150" cy="1108223"/>
          </a:xfrm>
        </p:grpSpPr>
        <p:sp>
          <p:nvSpPr>
            <p:cNvPr id="45" name="Прямоугольник: скругленные углы 26">
              <a:extLst>
                <a:ext uri="{FF2B5EF4-FFF2-40B4-BE49-F238E27FC236}">
                  <a16:creationId xmlns:a16="http://schemas.microsoft.com/office/drawing/2014/main" id="{92AA264B-0913-490B-A33F-58D22319C1A5}"/>
                </a:ext>
              </a:extLst>
            </p:cNvPr>
            <p:cNvSpPr/>
            <p:nvPr/>
          </p:nvSpPr>
          <p:spPr>
            <a:xfrm>
              <a:off x="5828878" y="2955041"/>
              <a:ext cx="4883150" cy="1108223"/>
            </a:xfrm>
            <a:prstGeom prst="roundRect">
              <a:avLst>
                <a:gd name="adj" fmla="val 7005"/>
              </a:avLst>
            </a:prstGeom>
            <a:noFill/>
            <a:ln w="9525">
              <a:solidFill>
                <a:srgbClr val="148B7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29">
                <a:latin typeface="Century Gothic" panose="020B0502020202020204" pitchFamily="34" charset="0"/>
              </a:endParaRPr>
            </a:p>
          </p:txBody>
        </p:sp>
        <p:grpSp>
          <p:nvGrpSpPr>
            <p:cNvPr id="20" name="Группа 19"/>
            <p:cNvGrpSpPr/>
            <p:nvPr/>
          </p:nvGrpSpPr>
          <p:grpSpPr>
            <a:xfrm>
              <a:off x="5828878" y="3058798"/>
              <a:ext cx="4753397" cy="954858"/>
              <a:chOff x="5828878" y="3058798"/>
              <a:chExt cx="4753397" cy="954858"/>
            </a:xfrm>
          </p:grpSpPr>
          <p:sp>
            <p:nvSpPr>
              <p:cNvPr id="47" name="object 11">
                <a:extLst>
                  <a:ext uri="{FF2B5EF4-FFF2-40B4-BE49-F238E27FC236}">
                    <a16:creationId xmlns:a16="http://schemas.microsoft.com/office/drawing/2014/main" id="{3CE4A8DE-FEBA-4CE3-950C-BFD85B4F60EF}"/>
                  </a:ext>
                </a:extLst>
              </p:cNvPr>
              <p:cNvSpPr txBox="1"/>
              <p:nvPr/>
            </p:nvSpPr>
            <p:spPr>
              <a:xfrm>
                <a:off x="5935862" y="3058798"/>
                <a:ext cx="3829346" cy="197407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marR="5078">
                  <a:spcBef>
                    <a:spcPts val="100"/>
                  </a:spcBef>
                </a:pPr>
                <a:r>
                  <a:rPr lang="ru-RU" sz="1200" b="1" dirty="0">
                    <a:latin typeface="Century Gothic" panose="020B0502020202020204" pitchFamily="34" charset="0"/>
                  </a:rPr>
                  <a:t>География охраны (в отношении всех узлов)</a:t>
                </a:r>
                <a:endParaRPr sz="1200" b="1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5828878" y="3229274"/>
                <a:ext cx="4753397" cy="7843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 marR="5080">
                  <a:lnSpc>
                    <a:spcPct val="114999"/>
                  </a:lnSpc>
                  <a:spcBef>
                    <a:spcPts val="100"/>
                  </a:spcBef>
                </a:pPr>
                <a:r>
                  <a:rPr lang="ru-RU" sz="1000" dirty="0">
                    <a:latin typeface="Century Gothic" panose="020B0502020202020204" pitchFamily="34" charset="0"/>
                  </a:rPr>
                  <a:t>Обязательно укажите количество существующих патентов, заявок на патенты и их географическое распределение, а также свидетельств на программы для ЭВМ, базы данных. Это поможет инвесторам понять географию охраны вашего продукта.</a:t>
                </a:r>
              </a:p>
            </p:txBody>
          </p:sp>
        </p:grpSp>
      </p:grpSp>
      <p:grpSp>
        <p:nvGrpSpPr>
          <p:cNvPr id="19" name="Группа 18"/>
          <p:cNvGrpSpPr/>
          <p:nvPr/>
        </p:nvGrpSpPr>
        <p:grpSpPr>
          <a:xfrm>
            <a:off x="531266" y="5040303"/>
            <a:ext cx="4883150" cy="1078198"/>
            <a:chOff x="5828878" y="1522200"/>
            <a:chExt cx="4883150" cy="1078198"/>
          </a:xfrm>
        </p:grpSpPr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62D04F6D-5529-4CD4-9A87-C35A856C4531}"/>
                </a:ext>
              </a:extLst>
            </p:cNvPr>
            <p:cNvSpPr txBox="1"/>
            <p:nvPr/>
          </p:nvSpPr>
          <p:spPr>
            <a:xfrm>
              <a:off x="5890349" y="1591331"/>
              <a:ext cx="4368076" cy="197485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marR="5078">
                <a:spcBef>
                  <a:spcPts val="100"/>
                </a:spcBef>
              </a:pPr>
              <a:r>
                <a:rPr lang="ru-RU" sz="1200" b="1" dirty="0">
                  <a:latin typeface="Century Gothic" panose="020B0502020202020204" pitchFamily="34" charset="0"/>
                </a:rPr>
                <a:t>Форма охраны для всех узлов (элементов) продукта</a:t>
              </a:r>
              <a:endParaRPr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44" name="Прямоугольник: скругленные углы 26">
              <a:extLst>
                <a:ext uri="{FF2B5EF4-FFF2-40B4-BE49-F238E27FC236}">
                  <a16:creationId xmlns:a16="http://schemas.microsoft.com/office/drawing/2014/main" id="{92AA264B-0913-490B-A33F-58D22319C1A5}"/>
                </a:ext>
              </a:extLst>
            </p:cNvPr>
            <p:cNvSpPr/>
            <p:nvPr/>
          </p:nvSpPr>
          <p:spPr>
            <a:xfrm>
              <a:off x="5828878" y="1522200"/>
              <a:ext cx="4883150" cy="963240"/>
            </a:xfrm>
            <a:prstGeom prst="roundRect">
              <a:avLst>
                <a:gd name="adj" fmla="val 7005"/>
              </a:avLst>
            </a:prstGeom>
            <a:noFill/>
            <a:ln w="9525">
              <a:solidFill>
                <a:srgbClr val="148B7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29">
                <a:latin typeface="Century Gothic" panose="020B0502020202020204" pitchFamily="34" charset="0"/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5828878" y="1787355"/>
              <a:ext cx="4558009" cy="8130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marR="5080">
                <a:lnSpc>
                  <a:spcPct val="114999"/>
                </a:lnSpc>
                <a:spcBef>
                  <a:spcPts val="100"/>
                </a:spcBef>
              </a:pPr>
              <a:r>
                <a:rPr lang="ru-RU" sz="1000" dirty="0">
                  <a:latin typeface="Century Gothic" panose="020B0502020202020204" pitchFamily="34" charset="0"/>
                </a:rPr>
                <a:t>Удостоверьтесь, что права на продукт принадлежат именно вам и в отношении них нет обременений. Опишите, как урегулированы отношения с авторами и подрядчиками</a:t>
              </a:r>
            </a:p>
            <a:p>
              <a:pPr marL="12700" marR="5080">
                <a:lnSpc>
                  <a:spcPct val="114999"/>
                </a:lnSpc>
                <a:spcBef>
                  <a:spcPts val="100"/>
                </a:spcBef>
              </a:pPr>
              <a:endParaRPr lang="ru-RU" sz="1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26" name="object 7">
            <a:extLst>
              <a:ext uri="{FF2B5EF4-FFF2-40B4-BE49-F238E27FC236}">
                <a16:creationId xmlns:a16="http://schemas.microsoft.com/office/drawing/2014/main" id="{98C9B663-767B-4562-B750-CEDCB64D5DB0}"/>
              </a:ext>
            </a:extLst>
          </p:cNvPr>
          <p:cNvSpPr txBox="1"/>
          <p:nvPr/>
        </p:nvSpPr>
        <p:spPr>
          <a:xfrm>
            <a:off x="6461458" y="5666524"/>
            <a:ext cx="4331970" cy="5211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260">
              <a:lnSpc>
                <a:spcPct val="114999"/>
              </a:lnSpc>
              <a:spcBef>
                <a:spcPts val="100"/>
              </a:spcBef>
            </a:pPr>
            <a:endParaRPr lang="ru-RU" sz="1400" dirty="0">
              <a:latin typeface="Microsoft Sans Serif"/>
              <a:cs typeface="Microsoft Sans Serif"/>
            </a:endParaRPr>
          </a:p>
          <a:p>
            <a:pPr marL="12700" marR="48260">
              <a:lnSpc>
                <a:spcPct val="114999"/>
              </a:lnSpc>
              <a:spcBef>
                <a:spcPts val="100"/>
              </a:spcBef>
            </a:pPr>
            <a:endParaRPr lang="ru-RU" sz="1400" spc="40" dirty="0">
              <a:latin typeface="Microsoft Sans Serif"/>
              <a:cs typeface="Microsoft Sans Serif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531266" y="3756267"/>
            <a:ext cx="4883150" cy="1108223"/>
            <a:chOff x="5828878" y="4458453"/>
            <a:chExt cx="4883150" cy="1108223"/>
          </a:xfrm>
        </p:grpSpPr>
        <p:sp>
          <p:nvSpPr>
            <p:cNvPr id="13" name="object 13"/>
            <p:cNvSpPr txBox="1"/>
            <p:nvPr/>
          </p:nvSpPr>
          <p:spPr>
            <a:xfrm>
              <a:off x="5935862" y="4482898"/>
              <a:ext cx="3485956" cy="381996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>
                <a:spcBef>
                  <a:spcPts val="100"/>
                </a:spcBef>
              </a:pPr>
              <a:r>
                <a:rPr lang="ru-RU" sz="1200" b="1" dirty="0">
                  <a:latin typeface="Century Gothic" panose="020B0502020202020204" pitchFamily="34" charset="0"/>
                </a:rPr>
                <a:t>Карта рисков в части интеллектуальной собственности</a:t>
              </a:r>
              <a:endParaRPr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46" name="Прямоугольник: скругленные углы 26">
              <a:extLst>
                <a:ext uri="{FF2B5EF4-FFF2-40B4-BE49-F238E27FC236}">
                  <a16:creationId xmlns:a16="http://schemas.microsoft.com/office/drawing/2014/main" id="{92AA264B-0913-490B-A33F-58D22319C1A5}"/>
                </a:ext>
              </a:extLst>
            </p:cNvPr>
            <p:cNvSpPr/>
            <p:nvPr/>
          </p:nvSpPr>
          <p:spPr>
            <a:xfrm>
              <a:off x="5828878" y="4458453"/>
              <a:ext cx="4883150" cy="1108223"/>
            </a:xfrm>
            <a:prstGeom prst="roundRect">
              <a:avLst>
                <a:gd name="adj" fmla="val 7005"/>
              </a:avLst>
            </a:prstGeom>
            <a:noFill/>
            <a:ln w="9525">
              <a:solidFill>
                <a:srgbClr val="148B7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29">
                <a:latin typeface="Century Gothic" panose="020B0502020202020204" pitchFamily="34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5890349" y="4904161"/>
              <a:ext cx="4691926" cy="6232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marR="48260">
                <a:lnSpc>
                  <a:spcPct val="114999"/>
                </a:lnSpc>
                <a:spcBef>
                  <a:spcPts val="100"/>
                </a:spcBef>
              </a:pPr>
              <a:r>
                <a:rPr lang="ru-RU" sz="1000" dirty="0">
                  <a:latin typeface="Century Gothic" panose="020B0502020202020204" pitchFamily="34" charset="0"/>
                </a:rPr>
                <a:t>Объясните, как вы собираетесь отслеживать возможные нарушения ваших интеллектуальных прав и какие действия планируете предпринять в случае выявления таких нарушений.</a:t>
              </a:r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5703375" y="4645567"/>
            <a:ext cx="4883150" cy="1357976"/>
            <a:chOff x="5828878" y="5832028"/>
            <a:chExt cx="4883150" cy="1357976"/>
          </a:xfrm>
        </p:grpSpPr>
        <p:sp>
          <p:nvSpPr>
            <p:cNvPr id="9" name="object 9"/>
            <p:cNvSpPr txBox="1"/>
            <p:nvPr/>
          </p:nvSpPr>
          <p:spPr>
            <a:xfrm>
              <a:off x="5919205" y="5923541"/>
              <a:ext cx="4721931" cy="381996"/>
            </a:xfrm>
            <a:prstGeom prst="rect">
              <a:avLst/>
            </a:prstGeom>
          </p:spPr>
          <p:txBody>
            <a:bodyPr vert="horz" wrap="square" lIns="0" tIns="12695" rIns="0" bIns="0" rtlCol="0">
              <a:spAutoFit/>
            </a:bodyPr>
            <a:lstStyle/>
            <a:p>
              <a:pPr marL="12695" marR="5078">
                <a:spcBef>
                  <a:spcPts val="100"/>
                </a:spcBef>
              </a:pPr>
              <a:r>
                <a:rPr lang="ru-RU" sz="1200" b="1" dirty="0">
                  <a:latin typeface="Century Gothic" panose="020B0502020202020204" pitchFamily="34" charset="0"/>
                </a:rPr>
                <a:t>Ожидаемый результат реализации стратегии правовой охраны</a:t>
              </a:r>
              <a:endParaRPr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43" name="Прямоугольник: скругленные углы 26">
              <a:extLst>
                <a:ext uri="{FF2B5EF4-FFF2-40B4-BE49-F238E27FC236}">
                  <a16:creationId xmlns:a16="http://schemas.microsoft.com/office/drawing/2014/main" id="{92AA264B-0913-490B-A33F-58D22319C1A5}"/>
                </a:ext>
              </a:extLst>
            </p:cNvPr>
            <p:cNvSpPr/>
            <p:nvPr/>
          </p:nvSpPr>
          <p:spPr>
            <a:xfrm>
              <a:off x="5828878" y="5832028"/>
              <a:ext cx="4883150" cy="1357976"/>
            </a:xfrm>
            <a:prstGeom prst="roundRect">
              <a:avLst>
                <a:gd name="adj" fmla="val 7005"/>
              </a:avLst>
            </a:prstGeom>
            <a:noFill/>
            <a:ln w="9525">
              <a:solidFill>
                <a:srgbClr val="148B7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29">
                <a:latin typeface="Century Gothic" panose="020B0502020202020204" pitchFamily="34" charset="0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5828879" y="6305537"/>
              <a:ext cx="4726534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marR="48260">
                <a:lnSpc>
                  <a:spcPct val="114999"/>
                </a:lnSpc>
                <a:spcBef>
                  <a:spcPts val="100"/>
                </a:spcBef>
              </a:pPr>
              <a:r>
                <a:rPr lang="ru-RU" sz="1000" dirty="0">
                  <a:latin typeface="Century Gothic" panose="020B0502020202020204" pitchFamily="34" charset="0"/>
                </a:rPr>
                <a:t>Опишите планируемые результаты, которые могут быть достигнуты благодаря реализации стратегии правовой охраны (исключение рисков претензий, привлечение инвестиций, укрепление позиции на рынке и др.) на основе конкретных показателей.</a:t>
              </a:r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5703375" y="2836364"/>
            <a:ext cx="4883150" cy="1603260"/>
            <a:chOff x="531266" y="4521444"/>
            <a:chExt cx="4883150" cy="1603260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531266" y="4521444"/>
              <a:ext cx="4883150" cy="1603260"/>
              <a:chOff x="531266" y="4521444"/>
              <a:chExt cx="4883150" cy="1603260"/>
            </a:xfrm>
          </p:grpSpPr>
          <p:sp>
            <p:nvSpPr>
              <p:cNvPr id="7" name="object 7"/>
              <p:cNvSpPr txBox="1"/>
              <p:nvPr/>
            </p:nvSpPr>
            <p:spPr>
              <a:xfrm>
                <a:off x="621594" y="4595197"/>
                <a:ext cx="4479521" cy="566817"/>
              </a:xfrm>
              <a:prstGeom prst="rect">
                <a:avLst/>
              </a:prstGeom>
            </p:spPr>
            <p:txBody>
              <a:bodyPr vert="horz" wrap="square" lIns="0" tIns="12695" rIns="0" bIns="0" rtlCol="0">
                <a:spAutoFit/>
              </a:bodyPr>
              <a:lstStyle/>
              <a:p>
                <a:pPr marL="12695" marR="5078">
                  <a:spcBef>
                    <a:spcPts val="100"/>
                  </a:spcBef>
                </a:pPr>
                <a:r>
                  <a:rPr lang="ru-RU" sz="1200" b="1" dirty="0">
                    <a:latin typeface="Century Gothic" panose="020B0502020202020204" pitchFamily="34" charset="0"/>
                  </a:rPr>
                  <a:t>Планы по коммерциализации интеллектуальной собственности: лицензии, отчуждение, внесение в уставный капитал, кредиты и т.д.</a:t>
                </a:r>
                <a:endParaRPr sz="1200" b="1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42" name="Прямоугольник: скругленные углы 26">
                <a:extLst>
                  <a:ext uri="{FF2B5EF4-FFF2-40B4-BE49-F238E27FC236}">
                    <a16:creationId xmlns:a16="http://schemas.microsoft.com/office/drawing/2014/main" id="{92AA264B-0913-490B-A33F-58D22319C1A5}"/>
                  </a:ext>
                </a:extLst>
              </p:cNvPr>
              <p:cNvSpPr/>
              <p:nvPr/>
            </p:nvSpPr>
            <p:spPr>
              <a:xfrm>
                <a:off x="531266" y="4521444"/>
                <a:ext cx="4883150" cy="1603260"/>
              </a:xfrm>
              <a:prstGeom prst="roundRect">
                <a:avLst>
                  <a:gd name="adj" fmla="val 7005"/>
                </a:avLst>
              </a:prstGeom>
              <a:noFill/>
              <a:ln w="9525">
                <a:solidFill>
                  <a:srgbClr val="148B7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329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4" name="Прямоугольник 13"/>
            <p:cNvSpPr/>
            <p:nvPr/>
          </p:nvSpPr>
          <p:spPr>
            <a:xfrm>
              <a:off x="558743" y="5266414"/>
              <a:ext cx="4557757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marR="48260">
                <a:lnSpc>
                  <a:spcPct val="114999"/>
                </a:lnSpc>
                <a:spcBef>
                  <a:spcPts val="100"/>
                </a:spcBef>
              </a:pPr>
              <a:r>
                <a:rPr lang="ru-RU" sz="1000" dirty="0">
                  <a:latin typeface="Century Gothic" panose="020B0502020202020204" pitchFamily="34" charset="0"/>
                </a:rPr>
                <a:t>Опишите возможности сотрудничества с другими компаниями для расширения вашего патентного портфеля, какие планы у вас по лицензированию вашей интеллектуальной собственности (при наличии) или получению лицензий от других компаний.</a:t>
              </a:r>
            </a:p>
          </p:txBody>
        </p:sp>
      </p:grp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B30E82B-E390-49EA-8554-D66C319D4451}"/>
              </a:ext>
            </a:extLst>
          </p:cNvPr>
          <p:cNvSpPr/>
          <p:nvPr/>
        </p:nvSpPr>
        <p:spPr>
          <a:xfrm>
            <a:off x="8614033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687801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346914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800EC3C-D9C5-79B2-259A-20346CB39A4F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7460524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Основная команда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866C3-D13F-3C8D-9136-8D0A96D5C67E}"/>
              </a:ext>
            </a:extLst>
          </p:cNvPr>
          <p:cNvSpPr txBox="1"/>
          <p:nvPr/>
        </p:nvSpPr>
        <p:spPr>
          <a:xfrm>
            <a:off x="5866410" y="35507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5" name="Google Shape;138;p18">
            <a:extLst>
              <a:ext uri="{FF2B5EF4-FFF2-40B4-BE49-F238E27FC236}">
                <a16:creationId xmlns:a16="http://schemas.microsoft.com/office/drawing/2014/main" id="{6C12D686-829D-560A-004A-B6C9248F5934}"/>
              </a:ext>
            </a:extLst>
          </p:cNvPr>
          <p:cNvSpPr txBox="1"/>
          <p:nvPr/>
        </p:nvSpPr>
        <p:spPr>
          <a:xfrm>
            <a:off x="1850176" y="1171437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8DA13E7-CD67-65A0-0063-DC1108606F73}"/>
              </a:ext>
            </a:extLst>
          </p:cNvPr>
          <p:cNvSpPr/>
          <p:nvPr/>
        </p:nvSpPr>
        <p:spPr>
          <a:xfrm>
            <a:off x="776141" y="1200146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35" name="Google Shape;138;p18">
            <a:extLst>
              <a:ext uri="{FF2B5EF4-FFF2-40B4-BE49-F238E27FC236}">
                <a16:creationId xmlns:a16="http://schemas.microsoft.com/office/drawing/2014/main" id="{16736E59-D3B7-BC5C-444C-789D000E84B5}"/>
              </a:ext>
            </a:extLst>
          </p:cNvPr>
          <p:cNvSpPr txBox="1"/>
          <p:nvPr/>
        </p:nvSpPr>
        <p:spPr>
          <a:xfrm>
            <a:off x="1849394" y="2682040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6E942A73-D60E-2D6F-FE60-D946D63353CA}"/>
              </a:ext>
            </a:extLst>
          </p:cNvPr>
          <p:cNvSpPr/>
          <p:nvPr/>
        </p:nvSpPr>
        <p:spPr>
          <a:xfrm>
            <a:off x="775359" y="2720374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38" name="Google Shape;138;p18">
            <a:extLst>
              <a:ext uri="{FF2B5EF4-FFF2-40B4-BE49-F238E27FC236}">
                <a16:creationId xmlns:a16="http://schemas.microsoft.com/office/drawing/2014/main" id="{F1760B5E-9C87-A55E-3424-0EDDE8C849EB}"/>
              </a:ext>
            </a:extLst>
          </p:cNvPr>
          <p:cNvSpPr txBox="1"/>
          <p:nvPr/>
        </p:nvSpPr>
        <p:spPr>
          <a:xfrm>
            <a:off x="1842682" y="4203052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631FE8DD-F7A4-5E21-C2C9-AEB5B421EBF5}"/>
              </a:ext>
            </a:extLst>
          </p:cNvPr>
          <p:cNvSpPr/>
          <p:nvPr/>
        </p:nvSpPr>
        <p:spPr>
          <a:xfrm>
            <a:off x="768647" y="4241386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41" name="Google Shape;138;p18">
            <a:extLst>
              <a:ext uri="{FF2B5EF4-FFF2-40B4-BE49-F238E27FC236}">
                <a16:creationId xmlns:a16="http://schemas.microsoft.com/office/drawing/2014/main" id="{FA8B6FA1-3DE5-9D00-BA0C-6AFBFAF33D72}"/>
              </a:ext>
            </a:extLst>
          </p:cNvPr>
          <p:cNvSpPr txBox="1"/>
          <p:nvPr/>
        </p:nvSpPr>
        <p:spPr>
          <a:xfrm>
            <a:off x="1849394" y="5721230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531EE152-9208-421A-E706-1A3EBE9C0C10}"/>
              </a:ext>
            </a:extLst>
          </p:cNvPr>
          <p:cNvSpPr/>
          <p:nvPr/>
        </p:nvSpPr>
        <p:spPr>
          <a:xfrm>
            <a:off x="775359" y="5759564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46" name="Google Shape;138;p18">
            <a:extLst>
              <a:ext uri="{FF2B5EF4-FFF2-40B4-BE49-F238E27FC236}">
                <a16:creationId xmlns:a16="http://schemas.microsoft.com/office/drawing/2014/main" id="{4D9EE003-B29D-D6E9-4EA1-A03B2D281D72}"/>
              </a:ext>
            </a:extLst>
          </p:cNvPr>
          <p:cNvSpPr txBox="1"/>
          <p:nvPr/>
        </p:nvSpPr>
        <p:spPr>
          <a:xfrm>
            <a:off x="6728846" y="1179189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929FF40E-891B-FAB5-7222-8064942720C9}"/>
              </a:ext>
            </a:extLst>
          </p:cNvPr>
          <p:cNvSpPr/>
          <p:nvPr/>
        </p:nvSpPr>
        <p:spPr>
          <a:xfrm>
            <a:off x="5654811" y="1207898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48" name="Google Shape;138;p18">
            <a:extLst>
              <a:ext uri="{FF2B5EF4-FFF2-40B4-BE49-F238E27FC236}">
                <a16:creationId xmlns:a16="http://schemas.microsoft.com/office/drawing/2014/main" id="{2626BEFF-6F62-ACA4-03AE-EC6D675EAF94}"/>
              </a:ext>
            </a:extLst>
          </p:cNvPr>
          <p:cNvSpPr txBox="1"/>
          <p:nvPr/>
        </p:nvSpPr>
        <p:spPr>
          <a:xfrm>
            <a:off x="6728064" y="2689792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A1165623-BC2E-DD08-3B6B-AE8A160ED897}"/>
              </a:ext>
            </a:extLst>
          </p:cNvPr>
          <p:cNvSpPr/>
          <p:nvPr/>
        </p:nvSpPr>
        <p:spPr>
          <a:xfrm>
            <a:off x="5654029" y="2728126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50" name="Google Shape;138;p18">
            <a:extLst>
              <a:ext uri="{FF2B5EF4-FFF2-40B4-BE49-F238E27FC236}">
                <a16:creationId xmlns:a16="http://schemas.microsoft.com/office/drawing/2014/main" id="{1C6E0203-E908-3939-7F39-A653591DC79F}"/>
              </a:ext>
            </a:extLst>
          </p:cNvPr>
          <p:cNvSpPr txBox="1"/>
          <p:nvPr/>
        </p:nvSpPr>
        <p:spPr>
          <a:xfrm>
            <a:off x="6721352" y="4210804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5F1CE98B-4203-03F6-AB85-1F062F6C7358}"/>
              </a:ext>
            </a:extLst>
          </p:cNvPr>
          <p:cNvSpPr/>
          <p:nvPr/>
        </p:nvSpPr>
        <p:spPr>
          <a:xfrm>
            <a:off x="5647317" y="4249138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sp>
        <p:nvSpPr>
          <p:cNvPr id="52" name="Google Shape;138;p18">
            <a:extLst>
              <a:ext uri="{FF2B5EF4-FFF2-40B4-BE49-F238E27FC236}">
                <a16:creationId xmlns:a16="http://schemas.microsoft.com/office/drawing/2014/main" id="{91566601-FBD5-9A70-8AAA-B7E921DA03B5}"/>
              </a:ext>
            </a:extLst>
          </p:cNvPr>
          <p:cNvSpPr txBox="1"/>
          <p:nvPr/>
        </p:nvSpPr>
        <p:spPr>
          <a:xfrm>
            <a:off x="6728064" y="5728982"/>
            <a:ext cx="3600000" cy="12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" sz="12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Имя Фамилия</a:t>
            </a:r>
          </a:p>
          <a:p>
            <a:r>
              <a:rPr lang="ru-RU" sz="1200" dirty="0">
                <a:solidFill>
                  <a:srgbClr val="179177"/>
                </a:solidFill>
                <a:latin typeface="Century Gothic" panose="020B0502020202020204" pitchFamily="34" charset="0"/>
              </a:rPr>
              <a:t>Должность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 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  <a:p>
            <a:r>
              <a:rPr lang="ru-RU" sz="1000" dirty="0">
                <a:latin typeface="Century Gothic" panose="020B0502020202020204" pitchFamily="34" charset="0"/>
              </a:rPr>
              <a:t>Описание роли в проекте и релевантного опыта.</a:t>
            </a: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96424BED-33C4-67A2-5A2C-ADCDBAC21155}"/>
              </a:ext>
            </a:extLst>
          </p:cNvPr>
          <p:cNvSpPr/>
          <p:nvPr/>
        </p:nvSpPr>
        <p:spPr>
          <a:xfrm>
            <a:off x="5654029" y="5767316"/>
            <a:ext cx="900000" cy="90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Фото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AB48B3E9-030C-4652-BE47-91C2EC1FD51F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27" name="object 3">
              <a:extLst>
                <a:ext uri="{FF2B5EF4-FFF2-40B4-BE49-F238E27FC236}">
                  <a16:creationId xmlns:a16="http://schemas.microsoft.com/office/drawing/2014/main" id="{6404EE20-CEBA-4700-92B6-01C6622B0DF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28" name="object 4">
              <a:extLst>
                <a:ext uri="{FF2B5EF4-FFF2-40B4-BE49-F238E27FC236}">
                  <a16:creationId xmlns:a16="http://schemas.microsoft.com/office/drawing/2014/main" id="{872614D1-3D2E-4F51-9540-B3A79B81B148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DCCFE25-0276-4A8F-B82C-1BDAAEF6436B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2D8E949-ACD1-49B2-B295-6DD4B36FD2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4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Изображение выглядит как одежда, костюм, человек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E3016CA5-157B-C825-17E7-79467618A5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27" y="1613690"/>
            <a:ext cx="5950357" cy="5950357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2BE078C-665D-84EF-B0DA-0C54A66D63AB}"/>
              </a:ext>
            </a:extLst>
          </p:cNvPr>
          <p:cNvSpPr txBox="1">
            <a:spLocks/>
          </p:cNvSpPr>
          <p:nvPr/>
        </p:nvSpPr>
        <p:spPr>
          <a:xfrm>
            <a:off x="742950" y="409700"/>
            <a:ext cx="5225177" cy="467017"/>
          </a:xfrm>
          <a:prstGeom prst="rect">
            <a:avLst/>
          </a:prstGeom>
        </p:spPr>
        <p:txBody>
          <a:bodyPr vert="horz" wrap="square" lIns="0" tIns="13999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000" algn="l">
              <a:lnSpc>
                <a:spcPct val="100000"/>
              </a:lnSpc>
              <a:spcBef>
                <a:spcPts val="110"/>
              </a:spcBef>
            </a:pPr>
            <a:r>
              <a:rPr lang="ru-RU" sz="2943" b="1" spc="-5" dirty="0">
                <a:latin typeface="Century Gothic" panose="020B0502020202020204" pitchFamily="34" charset="0"/>
              </a:rPr>
              <a:t>Контакты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432D-FBD8-0419-A0A7-F7BAEC7E6C9C}"/>
              </a:ext>
            </a:extLst>
          </p:cNvPr>
          <p:cNvSpPr txBox="1"/>
          <p:nvPr/>
        </p:nvSpPr>
        <p:spPr>
          <a:xfrm>
            <a:off x="10358792" y="7034573"/>
            <a:ext cx="433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E1C9FC5C-AF71-0764-C658-B4F8354BB904}"/>
              </a:ext>
            </a:extLst>
          </p:cNvPr>
          <p:cNvSpPr/>
          <p:nvPr/>
        </p:nvSpPr>
        <p:spPr>
          <a:xfrm rot="8100000">
            <a:off x="-493977" y="-19462"/>
            <a:ext cx="1370473" cy="829511"/>
          </a:xfrm>
          <a:custGeom>
            <a:avLst/>
            <a:gdLst>
              <a:gd name="connsiteX0" fmla="*/ 540963 w 1370473"/>
              <a:gd name="connsiteY0" fmla="*/ 829511 h 829511"/>
              <a:gd name="connsiteX1" fmla="*/ 0 w 1370473"/>
              <a:gd name="connsiteY1" fmla="*/ 288548 h 829511"/>
              <a:gd name="connsiteX2" fmla="*/ 56960 w 1370473"/>
              <a:gd name="connsiteY2" fmla="*/ 219510 h 829511"/>
              <a:gd name="connsiteX3" fmla="*/ 586907 w 1370473"/>
              <a:gd name="connsiteY3" fmla="*/ 0 h 829511"/>
              <a:gd name="connsiteX4" fmla="*/ 1370473 w 1370473"/>
              <a:gd name="connsiteY4" fmla="*/ 0 h 829511"/>
              <a:gd name="connsiteX5" fmla="*/ 540963 w 1370473"/>
              <a:gd name="connsiteY5" fmla="*/ 829511 h 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0473" h="829511">
                <a:moveTo>
                  <a:pt x="540963" y="829511"/>
                </a:moveTo>
                <a:lnTo>
                  <a:pt x="0" y="288548"/>
                </a:lnTo>
                <a:lnTo>
                  <a:pt x="56960" y="219510"/>
                </a:lnTo>
                <a:cubicBezTo>
                  <a:pt x="192585" y="83886"/>
                  <a:pt x="379950" y="0"/>
                  <a:pt x="586907" y="0"/>
                </a:cubicBezTo>
                <a:lnTo>
                  <a:pt x="1370473" y="0"/>
                </a:lnTo>
                <a:lnTo>
                  <a:pt x="540963" y="829511"/>
                </a:lnTo>
                <a:close/>
              </a:path>
            </a:pathLst>
          </a:custGeom>
          <a:gradFill flip="none" rotWithShape="1">
            <a:gsLst>
              <a:gs pos="0">
                <a:srgbClr val="34C6A7"/>
              </a:gs>
              <a:gs pos="50000">
                <a:srgbClr val="148B72"/>
              </a:gs>
              <a:gs pos="100000">
                <a:srgbClr val="00403A"/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076"/>
          </a:p>
        </p:txBody>
      </p:sp>
      <p:sp>
        <p:nvSpPr>
          <p:cNvPr id="17" name="Google Shape;138;p18">
            <a:extLst>
              <a:ext uri="{FF2B5EF4-FFF2-40B4-BE49-F238E27FC236}">
                <a16:creationId xmlns:a16="http://schemas.microsoft.com/office/drawing/2014/main" id="{D96EB376-4194-855F-8070-E7767AEF8FE3}"/>
              </a:ext>
            </a:extLst>
          </p:cNvPr>
          <p:cNvSpPr txBox="1"/>
          <p:nvPr/>
        </p:nvSpPr>
        <p:spPr>
          <a:xfrm>
            <a:off x="5635390" y="1432361"/>
            <a:ext cx="4500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i="1" dirty="0">
                <a:solidFill>
                  <a:srgbClr val="B1E4D7"/>
                </a:solidFill>
                <a:latin typeface="Century Gothic" panose="020B0502020202020204" pitchFamily="34" charset="0"/>
              </a:rPr>
              <a:t>В этой части можно разместить ссылки на СМИ, или какую-то картинку, демонстрирующую проект и продукт, фото интерфейсов ИТ-проекта или </a:t>
            </a:r>
            <a:r>
              <a:rPr lang="en-US" sz="1200" i="1" dirty="0">
                <a:solidFill>
                  <a:srgbClr val="B1E4D7"/>
                </a:solidFill>
                <a:latin typeface="Century Gothic" panose="020B0502020202020204" pitchFamily="34" charset="0"/>
              </a:rPr>
              <a:t>QR</a:t>
            </a:r>
            <a:r>
              <a:rPr lang="ru-RU" sz="1200" i="1" dirty="0">
                <a:solidFill>
                  <a:srgbClr val="B1E4D7"/>
                </a:solidFill>
                <a:latin typeface="Century Gothic" panose="020B0502020202020204" pitchFamily="34" charset="0"/>
              </a:rPr>
              <a:t>-код с вашими контактами и т.д. Удалите этот текст.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B3D92-89C9-BDAF-A65A-093CBF669020}"/>
              </a:ext>
            </a:extLst>
          </p:cNvPr>
          <p:cNvSpPr txBox="1"/>
          <p:nvPr/>
        </p:nvSpPr>
        <p:spPr>
          <a:xfrm>
            <a:off x="684090" y="1069315"/>
            <a:ext cx="3829491" cy="2969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latin typeface="Century Gothic" panose="020B0502020202020204" pitchFamily="34" charset="0"/>
              </a:rPr>
              <a:t>ООО «</a:t>
            </a:r>
            <a:r>
              <a:rPr lang="ru-RU" sz="1400" b="1" i="0" dirty="0">
                <a:solidFill>
                  <a:srgbClr val="222222"/>
                </a:solidFill>
                <a:effectLst/>
                <a:latin typeface="Century Gothic" panose="020B0502020202020204" pitchFamily="34" charset="0"/>
              </a:rPr>
              <a:t>ХХХ»</a:t>
            </a:r>
          </a:p>
          <a:p>
            <a:r>
              <a:rPr lang="ru-RU" sz="1400" b="0" i="0" dirty="0">
                <a:solidFill>
                  <a:srgbClr val="222222"/>
                </a:solidFill>
                <a:effectLst/>
                <a:latin typeface="Century Gothic" panose="020B0502020202020204" pitchFamily="34" charset="0"/>
              </a:rPr>
              <a:t>ИНН ХХХ</a:t>
            </a:r>
          </a:p>
          <a:p>
            <a:r>
              <a:rPr lang="ru-RU" sz="1400" dirty="0">
                <a:solidFill>
                  <a:srgbClr val="222222"/>
                </a:solidFill>
                <a:latin typeface="Century Gothic" panose="020B0502020202020204" pitchFamily="34" charset="0"/>
              </a:rPr>
              <a:t>ОГРН ХХХ</a:t>
            </a:r>
          </a:p>
          <a:p>
            <a:endParaRPr lang="ru-RU" sz="1400" b="0" i="0" dirty="0">
              <a:solidFill>
                <a:srgbClr val="222222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sz="1400" b="1" dirty="0">
                <a:solidFill>
                  <a:srgbClr val="179177"/>
                </a:solidFill>
                <a:latin typeface="Century Gothic" panose="020B0502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russia-the-best</a:t>
            </a:r>
            <a:r>
              <a:rPr lang="ru-RU" sz="1400" b="1" dirty="0">
                <a:solidFill>
                  <a:srgbClr val="179177"/>
                </a:solidFill>
                <a:latin typeface="Century Gothic" panose="020B0502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.ru</a:t>
            </a:r>
            <a:r>
              <a:rPr lang="ru-RU" sz="1400" b="1" dirty="0">
                <a:solidFill>
                  <a:srgbClr val="179177"/>
                </a:solidFill>
                <a:latin typeface="Century Gothic" panose="020B0502020202020204" pitchFamily="34" charset="0"/>
              </a:rPr>
              <a:t> </a:t>
            </a:r>
          </a:p>
          <a:p>
            <a:endParaRPr lang="ru-RU" sz="500" dirty="0">
              <a:latin typeface="Century Gothic" panose="020B050202020202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US" sz="1400" dirty="0">
                <a:solidFill>
                  <a:srgbClr val="179177"/>
                </a:solidFill>
                <a:latin typeface="Century Gothic" panose="020B0502020202020204" pitchFamily="34" charset="0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info@moscow.ru</a:t>
            </a:r>
            <a:endParaRPr lang="ru-RU" sz="1400" dirty="0">
              <a:solidFill>
                <a:srgbClr val="179177"/>
              </a:solidFill>
              <a:latin typeface="Century Gothic" panose="020B0502020202020204" pitchFamily="34" charset="0"/>
              <a:sym typeface="Montserrat"/>
            </a:endParaRPr>
          </a:p>
          <a:p>
            <a:pPr>
              <a:lnSpc>
                <a:spcPct val="115000"/>
              </a:lnSpc>
              <a:buSzPts val="1100"/>
            </a:pPr>
            <a:endParaRPr lang="ru-RU" sz="500" dirty="0">
              <a:latin typeface="Century Gothic" panose="020B0502020202020204" pitchFamily="34" charset="0"/>
              <a:sym typeface="Montserrat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US" sz="1400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+7 (495) 000 00 00</a:t>
            </a:r>
            <a:endParaRPr lang="ru-RU" sz="1400" dirty="0">
              <a:latin typeface="Century Gothic" panose="020B0502020202020204" pitchFamily="34" charset="0"/>
              <a:sym typeface="Montserrat"/>
            </a:endParaRPr>
          </a:p>
          <a:p>
            <a:endParaRPr lang="ru-RU" sz="1400" dirty="0">
              <a:latin typeface="Century Gothic" panose="020B0502020202020204" pitchFamily="34" charset="0"/>
            </a:endParaRPr>
          </a:p>
          <a:p>
            <a:endParaRPr lang="ru-RU" sz="1400" dirty="0">
              <a:latin typeface="Century Gothic" panose="020B0502020202020204" pitchFamily="34" charset="0"/>
            </a:endParaRPr>
          </a:p>
          <a:p>
            <a:r>
              <a:rPr lang="ru-RU" sz="1600" b="1" dirty="0">
                <a:latin typeface="Century Gothic" panose="020B0502020202020204" pitchFamily="34" charset="0"/>
              </a:rPr>
              <a:t>Имя Фамилия</a:t>
            </a:r>
          </a:p>
          <a:p>
            <a:r>
              <a:rPr lang="ru-RU" sz="1600" dirty="0">
                <a:latin typeface="Century Gothic" panose="020B0502020202020204" pitchFamily="34" charset="0"/>
              </a:rPr>
              <a:t>+ 7 999 999 99 99</a:t>
            </a:r>
          </a:p>
          <a:p>
            <a:endParaRPr lang="ru-RU" sz="1400" dirty="0">
              <a:latin typeface="Century Gothic" panose="020B0502020202020204" pitchFamily="34" charset="0"/>
            </a:endParaRPr>
          </a:p>
        </p:txBody>
      </p:sp>
      <p:sp>
        <p:nvSpPr>
          <p:cNvPr id="23" name="Google Shape;138;p18">
            <a:extLst>
              <a:ext uri="{FF2B5EF4-FFF2-40B4-BE49-F238E27FC236}">
                <a16:creationId xmlns:a16="http://schemas.microsoft.com/office/drawing/2014/main" id="{C17CFC4C-FBB2-31B8-EB60-C6B9DD80C072}"/>
              </a:ext>
            </a:extLst>
          </p:cNvPr>
          <p:cNvSpPr txBox="1"/>
          <p:nvPr/>
        </p:nvSpPr>
        <p:spPr>
          <a:xfrm>
            <a:off x="3323747" y="5174448"/>
            <a:ext cx="184952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i="1" dirty="0">
                <a:solidFill>
                  <a:srgbClr val="B1E4D7"/>
                </a:solidFill>
                <a:latin typeface="Century Gothic" panose="020B0502020202020204" pitchFamily="34" charset="0"/>
              </a:rPr>
              <a:t>Может быть разместите тут вашу крупную качественную  фотографию?</a:t>
            </a:r>
          </a:p>
          <a:p>
            <a:pPr>
              <a:lnSpc>
                <a:spcPct val="120000"/>
              </a:lnSpc>
            </a:pPr>
            <a:endParaRPr lang="ru-RU" sz="1200" dirty="0">
              <a:latin typeface="Century Gothic" panose="020B0502020202020204" pitchFamily="34" charset="0"/>
            </a:endParaRPr>
          </a:p>
        </p:txBody>
      </p:sp>
      <p:pic>
        <p:nvPicPr>
          <p:cNvPr id="24" name="Рисунок 23" descr="Изображение выглядит как Графика, круг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D953FD1A-F7F5-926A-158E-D0E8F97F72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824807"/>
            <a:ext cx="180000" cy="180000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Графика, символ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E4E3F2CF-37FD-C504-2F3A-525CDFC7A68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75" y="3824807"/>
            <a:ext cx="180000" cy="180000"/>
          </a:xfrm>
          <a:prstGeom prst="ellipse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3C7D176-0C0E-4931-8A3D-53A6FC0A5302}"/>
              </a:ext>
            </a:extLst>
          </p:cNvPr>
          <p:cNvGrpSpPr/>
          <p:nvPr/>
        </p:nvGrpSpPr>
        <p:grpSpPr>
          <a:xfrm>
            <a:off x="7896990" y="555893"/>
            <a:ext cx="1372591" cy="285417"/>
            <a:chOff x="7419519" y="167840"/>
            <a:chExt cx="1462048" cy="304019"/>
          </a:xfrm>
        </p:grpSpPr>
        <p:pic>
          <p:nvPicPr>
            <p:cNvPr id="19" name="object 3">
              <a:extLst>
                <a:ext uri="{FF2B5EF4-FFF2-40B4-BE49-F238E27FC236}">
                  <a16:creationId xmlns:a16="http://schemas.microsoft.com/office/drawing/2014/main" id="{4C3742C1-32DE-48B5-8C0F-2AE00B02F76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99705" y="171488"/>
              <a:ext cx="881862" cy="300371"/>
            </a:xfrm>
            <a:prstGeom prst="rect">
              <a:avLst/>
            </a:prstGeom>
          </p:spPr>
        </p:pic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F1AC5C1B-3614-4FB0-AA20-E7DB3930909E}"/>
                </a:ext>
              </a:extLst>
            </p:cNvPr>
            <p:cNvSpPr/>
            <p:nvPr/>
          </p:nvSpPr>
          <p:spPr>
            <a:xfrm>
              <a:off x="7419519" y="167840"/>
              <a:ext cx="464184" cy="290195"/>
            </a:xfrm>
            <a:custGeom>
              <a:avLst/>
              <a:gdLst/>
              <a:ahLst/>
              <a:cxnLst/>
              <a:rect l="l" t="t" r="r" b="b"/>
              <a:pathLst>
                <a:path w="464185" h="290194">
                  <a:moveTo>
                    <a:pt x="463715" y="0"/>
                  </a:moveTo>
                  <a:lnTo>
                    <a:pt x="456222" y="0"/>
                  </a:lnTo>
                  <a:lnTo>
                    <a:pt x="456222" y="7505"/>
                  </a:lnTo>
                  <a:lnTo>
                    <a:pt x="451231" y="56591"/>
                  </a:lnTo>
                  <a:lnTo>
                    <a:pt x="438073" y="102793"/>
                  </a:lnTo>
                  <a:lnTo>
                    <a:pt x="417525" y="145389"/>
                  </a:lnTo>
                  <a:lnTo>
                    <a:pt x="390334" y="183591"/>
                  </a:lnTo>
                  <a:lnTo>
                    <a:pt x="357263" y="216662"/>
                  </a:lnTo>
                  <a:lnTo>
                    <a:pt x="319049" y="243852"/>
                  </a:lnTo>
                  <a:lnTo>
                    <a:pt x="276466" y="264401"/>
                  </a:lnTo>
                  <a:lnTo>
                    <a:pt x="230251" y="277558"/>
                  </a:lnTo>
                  <a:lnTo>
                    <a:pt x="181165" y="282549"/>
                  </a:lnTo>
                  <a:lnTo>
                    <a:pt x="181165" y="234137"/>
                  </a:lnTo>
                  <a:lnTo>
                    <a:pt x="181165" y="218744"/>
                  </a:lnTo>
                  <a:lnTo>
                    <a:pt x="137058" y="248602"/>
                  </a:lnTo>
                  <a:lnTo>
                    <a:pt x="96088" y="266928"/>
                  </a:lnTo>
                  <a:lnTo>
                    <a:pt x="52755" y="278307"/>
                  </a:lnTo>
                  <a:lnTo>
                    <a:pt x="7594" y="282549"/>
                  </a:lnTo>
                  <a:lnTo>
                    <a:pt x="7594" y="181076"/>
                  </a:lnTo>
                  <a:lnTo>
                    <a:pt x="53225" y="174104"/>
                  </a:lnTo>
                  <a:lnTo>
                    <a:pt x="94272" y="156260"/>
                  </a:lnTo>
                  <a:lnTo>
                    <a:pt x="129159" y="129120"/>
                  </a:lnTo>
                  <a:lnTo>
                    <a:pt x="156311" y="94234"/>
                  </a:lnTo>
                  <a:lnTo>
                    <a:pt x="174142" y="53174"/>
                  </a:lnTo>
                  <a:lnTo>
                    <a:pt x="181076" y="7505"/>
                  </a:lnTo>
                  <a:lnTo>
                    <a:pt x="282638" y="7505"/>
                  </a:lnTo>
                  <a:lnTo>
                    <a:pt x="278930" y="48971"/>
                  </a:lnTo>
                  <a:lnTo>
                    <a:pt x="269151" y="89179"/>
                  </a:lnTo>
                  <a:lnTo>
                    <a:pt x="252691" y="128841"/>
                  </a:lnTo>
                  <a:lnTo>
                    <a:pt x="230505" y="165379"/>
                  </a:lnTo>
                  <a:lnTo>
                    <a:pt x="230835" y="165252"/>
                  </a:lnTo>
                  <a:lnTo>
                    <a:pt x="230695" y="165481"/>
                  </a:lnTo>
                  <a:lnTo>
                    <a:pt x="223812" y="175107"/>
                  </a:lnTo>
                  <a:lnTo>
                    <a:pt x="234950" y="171259"/>
                  </a:lnTo>
                  <a:lnTo>
                    <a:pt x="258178" y="159905"/>
                  </a:lnTo>
                  <a:lnTo>
                    <a:pt x="274269" y="152044"/>
                  </a:lnTo>
                  <a:lnTo>
                    <a:pt x="307022" y="124485"/>
                  </a:lnTo>
                  <a:lnTo>
                    <a:pt x="332092" y="90157"/>
                  </a:lnTo>
                  <a:lnTo>
                    <a:pt x="348335" y="50647"/>
                  </a:lnTo>
                  <a:lnTo>
                    <a:pt x="354647" y="7505"/>
                  </a:lnTo>
                  <a:lnTo>
                    <a:pt x="456222" y="7505"/>
                  </a:lnTo>
                  <a:lnTo>
                    <a:pt x="456222" y="0"/>
                  </a:lnTo>
                  <a:lnTo>
                    <a:pt x="347154" y="0"/>
                  </a:lnTo>
                  <a:lnTo>
                    <a:pt x="347154" y="3759"/>
                  </a:lnTo>
                  <a:lnTo>
                    <a:pt x="339763" y="53263"/>
                  </a:lnTo>
                  <a:lnTo>
                    <a:pt x="318808" y="97523"/>
                  </a:lnTo>
                  <a:lnTo>
                    <a:pt x="290144" y="129476"/>
                  </a:lnTo>
                  <a:lnTo>
                    <a:pt x="290144" y="3759"/>
                  </a:lnTo>
                  <a:lnTo>
                    <a:pt x="290144" y="1422"/>
                  </a:lnTo>
                  <a:lnTo>
                    <a:pt x="290144" y="0"/>
                  </a:lnTo>
                  <a:lnTo>
                    <a:pt x="287616" y="0"/>
                  </a:lnTo>
                  <a:lnTo>
                    <a:pt x="287616" y="132283"/>
                  </a:lnTo>
                  <a:lnTo>
                    <a:pt x="286143" y="133934"/>
                  </a:lnTo>
                  <a:lnTo>
                    <a:pt x="283883" y="135318"/>
                  </a:lnTo>
                  <a:lnTo>
                    <a:pt x="287616" y="132283"/>
                  </a:lnTo>
                  <a:lnTo>
                    <a:pt x="287616" y="0"/>
                  </a:lnTo>
                  <a:lnTo>
                    <a:pt x="173570" y="0"/>
                  </a:lnTo>
                  <a:lnTo>
                    <a:pt x="173570" y="3759"/>
                  </a:lnTo>
                  <a:lnTo>
                    <a:pt x="167500" y="48856"/>
                  </a:lnTo>
                  <a:lnTo>
                    <a:pt x="150368" y="89420"/>
                  </a:lnTo>
                  <a:lnTo>
                    <a:pt x="123786" y="123799"/>
                  </a:lnTo>
                  <a:lnTo>
                    <a:pt x="89408" y="150368"/>
                  </a:lnTo>
                  <a:lnTo>
                    <a:pt x="48856" y="167513"/>
                  </a:lnTo>
                  <a:lnTo>
                    <a:pt x="3746" y="173583"/>
                  </a:lnTo>
                  <a:lnTo>
                    <a:pt x="0" y="173583"/>
                  </a:lnTo>
                  <a:lnTo>
                    <a:pt x="0" y="290144"/>
                  </a:lnTo>
                  <a:lnTo>
                    <a:pt x="3746" y="290144"/>
                  </a:lnTo>
                  <a:lnTo>
                    <a:pt x="49377" y="286550"/>
                  </a:lnTo>
                  <a:lnTo>
                    <a:pt x="65849" y="282549"/>
                  </a:lnTo>
                  <a:lnTo>
                    <a:pt x="93256" y="275894"/>
                  </a:lnTo>
                  <a:lnTo>
                    <a:pt x="134835" y="258356"/>
                  </a:lnTo>
                  <a:lnTo>
                    <a:pt x="173570" y="234137"/>
                  </a:lnTo>
                  <a:lnTo>
                    <a:pt x="173570" y="290144"/>
                  </a:lnTo>
                  <a:lnTo>
                    <a:pt x="177317" y="290144"/>
                  </a:lnTo>
                  <a:lnTo>
                    <a:pt x="223710" y="286385"/>
                  </a:lnTo>
                  <a:lnTo>
                    <a:pt x="267728" y="275513"/>
                  </a:lnTo>
                  <a:lnTo>
                    <a:pt x="308813" y="258127"/>
                  </a:lnTo>
                  <a:lnTo>
                    <a:pt x="346341" y="234810"/>
                  </a:lnTo>
                  <a:lnTo>
                    <a:pt x="354647" y="227685"/>
                  </a:lnTo>
                  <a:lnTo>
                    <a:pt x="354647" y="281851"/>
                  </a:lnTo>
                  <a:lnTo>
                    <a:pt x="463715" y="281851"/>
                  </a:lnTo>
                  <a:lnTo>
                    <a:pt x="463715" y="3759"/>
                  </a:lnTo>
                  <a:lnTo>
                    <a:pt x="4637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021">
                <a:latin typeface="Century Gothic" panose="020B0502020202020204" pitchFamily="34" charset="0"/>
              </a:endParaRPr>
            </a:p>
          </p:txBody>
        </p:sp>
      </p:grp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9DAE0E4-1764-442F-8A6C-06889BA5D454}"/>
              </a:ext>
            </a:extLst>
          </p:cNvPr>
          <p:cNvSpPr/>
          <p:nvPr/>
        </p:nvSpPr>
        <p:spPr>
          <a:xfrm>
            <a:off x="5654554" y="480704"/>
            <a:ext cx="1972492" cy="441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Лого проекта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231E9E7-F56D-474C-A6DB-6D4FA13B07A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525" y="563091"/>
            <a:ext cx="1191730" cy="2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5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5FD3D-2D0A-AF85-7EC6-14044FB8D96F}"/>
              </a:ext>
            </a:extLst>
          </p:cNvPr>
          <p:cNvSpPr txBox="1"/>
          <p:nvPr/>
        </p:nvSpPr>
        <p:spPr>
          <a:xfrm>
            <a:off x="921435" y="3179672"/>
            <a:ext cx="43219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Технический слайд. Эти красные рамки можно копировать и вставлять на нужный слайд, чтобы все аккуратно выровнять. Потом удалить. И этот слайд удалите, как закончите с презентацией.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EF97303-1FBC-0D65-1410-18D06707FCB4}"/>
              </a:ext>
            </a:extLst>
          </p:cNvPr>
          <p:cNvGrpSpPr/>
          <p:nvPr/>
        </p:nvGrpSpPr>
        <p:grpSpPr>
          <a:xfrm>
            <a:off x="-5392" y="0"/>
            <a:ext cx="11169633" cy="7559675"/>
            <a:chOff x="-5392" y="0"/>
            <a:chExt cx="11169633" cy="7559675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D59A76AA-B409-2BC1-DB4C-8276EC013318}"/>
                </a:ext>
              </a:extLst>
            </p:cNvPr>
            <p:cNvGrpSpPr/>
            <p:nvPr/>
          </p:nvGrpSpPr>
          <p:grpSpPr>
            <a:xfrm>
              <a:off x="-5392" y="0"/>
              <a:ext cx="11169633" cy="7559675"/>
              <a:chOff x="-5392" y="0"/>
              <a:chExt cx="11169633" cy="7559675"/>
            </a:xfrm>
          </p:grpSpPr>
          <p:cxnSp>
            <p:nvCxnSpPr>
              <p:cNvPr id="5" name="Прямая соединительная линия 4">
                <a:extLst>
                  <a:ext uri="{FF2B5EF4-FFF2-40B4-BE49-F238E27FC236}">
                    <a16:creationId xmlns:a16="http://schemas.microsoft.com/office/drawing/2014/main" id="{2BA3D99D-0ED8-9EA4-3C08-9192D1EADA19}"/>
                  </a:ext>
                </a:extLst>
              </p:cNvPr>
              <p:cNvCxnSpPr/>
              <p:nvPr/>
            </p:nvCxnSpPr>
            <p:spPr>
              <a:xfrm>
                <a:off x="5635390" y="0"/>
                <a:ext cx="0" cy="755967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Прямая соединительная линия 5">
                <a:extLst>
                  <a:ext uri="{FF2B5EF4-FFF2-40B4-BE49-F238E27FC236}">
                    <a16:creationId xmlns:a16="http://schemas.microsoft.com/office/drawing/2014/main" id="{FFFFD972-1022-0360-E889-ED0D0B02A3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" y="1164360"/>
                <a:ext cx="1116012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DE2C14CD-1197-8D98-156C-6EC209A88F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7" y="1477401"/>
                <a:ext cx="1116012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A60AD0FF-D175-3557-AE1C-0F52B6A0DE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392" y="7105111"/>
                <a:ext cx="1116012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6320B250-359C-B871-B0A2-8FF501E1101E}"/>
                  </a:ext>
                </a:extLst>
              </p:cNvPr>
              <p:cNvCxnSpPr/>
              <p:nvPr/>
            </p:nvCxnSpPr>
            <p:spPr>
              <a:xfrm>
                <a:off x="778657" y="0"/>
                <a:ext cx="0" cy="755967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A689F56-A011-9D54-DF8A-5F0276BE5C8E}"/>
                </a:ext>
              </a:extLst>
            </p:cNvPr>
            <p:cNvCxnSpPr/>
            <p:nvPr/>
          </p:nvCxnSpPr>
          <p:spPr>
            <a:xfrm>
              <a:off x="10545142" y="0"/>
              <a:ext cx="0" cy="755967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2737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20224</TotalTime>
  <Words>2132</Words>
  <Application>Microsoft Office PowerPoint</Application>
  <PresentationFormat>Произвольный</PresentationFormat>
  <Paragraphs>382</Paragraphs>
  <Slides>13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Microsoft Sans Serif</vt:lpstr>
      <vt:lpstr>Montserrat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Стратегия правовой охраны продукта </vt:lpstr>
      <vt:lpstr>Презентация PowerPoint</vt:lpstr>
      <vt:lpstr>Презентация PowerPoint</vt:lpstr>
      <vt:lpstr>Презентация PowerPoint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Шалдёнков Александр Вадимович</dc:creator>
  <cp:lastModifiedBy>User</cp:lastModifiedBy>
  <cp:revision>521</cp:revision>
  <cp:lastPrinted>2023-02-28T12:38:41Z</cp:lastPrinted>
  <dcterms:created xsi:type="dcterms:W3CDTF">2023-02-10T07:33:54Z</dcterms:created>
  <dcterms:modified xsi:type="dcterms:W3CDTF">2026-10-10T16:46:59Z</dcterms:modified>
</cp:coreProperties>
</file>